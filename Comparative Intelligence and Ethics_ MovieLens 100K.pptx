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086d0c42304d72" /><Relationship Type="http://schemas.openxmlformats.org/officeDocument/2006/relationships/extended-properties" Target="/docProps/app.xml" Id="R98a9c1d7af1d4985" /><Relationship Type="http://schemas.openxmlformats.org/officeDocument/2006/relationships/officeDocument" Target="/ppt/presentation.xml" Id="Ra9d55a73b4194541" /></Relationships>
</file>

<file path=ppt/presentation.xml><?xml version="1.0" encoding="utf-8"?>
<p:presentation xmlns:p="http://schemas.openxmlformats.org/presentationml/2006/main">
  <p:sldMasterIdLst>
    <p:sldMasterId xmlns:r="http://schemas.openxmlformats.org/officeDocument/2006/relationships" id="2147483648" r:id="R47fe26a7350a4bd9"/>
  </p:sldMasterIdLst>
  <p:notesMasterIdLst>
    <p:notesMasterId xmlns:r="http://schemas.openxmlformats.org/officeDocument/2006/relationships" r:id="Re3fc752911ec4b64"/>
  </p:notesMasterIdLst>
  <p:sldIdLst>
    <p:sldId xmlns:r="http://schemas.openxmlformats.org/officeDocument/2006/relationships" id="256" r:id="R37fff37c77384aef"/>
    <p:sldId xmlns:r="http://schemas.openxmlformats.org/officeDocument/2006/relationships" id="257" r:id="Rfc479fd1ebe44b7d"/>
    <p:sldId xmlns:r="http://schemas.openxmlformats.org/officeDocument/2006/relationships" id="258" r:id="R5c35de1f01814ab2"/>
    <p:sldId xmlns:r="http://schemas.openxmlformats.org/officeDocument/2006/relationships" id="259" r:id="Re98600a0c9434f6f"/>
    <p:sldId xmlns:r="http://schemas.openxmlformats.org/officeDocument/2006/relationships" id="260" r:id="R827ab1ad42e340d2"/>
    <p:sldId xmlns:r="http://schemas.openxmlformats.org/officeDocument/2006/relationships" id="261" r:id="Rd83ac543a30e458a"/>
    <p:sldId xmlns:r="http://schemas.openxmlformats.org/officeDocument/2006/relationships" id="262" r:id="Racffb70b8900494a"/>
    <p:sldId xmlns:r="http://schemas.openxmlformats.org/officeDocument/2006/relationships" id="263" r:id="R2804490b13f14690"/>
    <p:sldId xmlns:r="http://schemas.openxmlformats.org/officeDocument/2006/relationships" id="264" r:id="R072df4c587884809"/>
    <p:sldId xmlns:r="http://schemas.openxmlformats.org/officeDocument/2006/relationships" id="265" r:id="R2321c3c994474294"/>
    <p:sldId xmlns:r="http://schemas.openxmlformats.org/officeDocument/2006/relationships" id="266" r:id="Rb27068dd89134321"/>
    <p:sldId xmlns:r="http://schemas.openxmlformats.org/officeDocument/2006/relationships" id="267" r:id="Ra1f64646ea44488f"/>
    <p:sldId xmlns:r="http://schemas.openxmlformats.org/officeDocument/2006/relationships" id="268" r:id="R389dcbec13ee43ff"/>
    <p:sldId xmlns:r="http://schemas.openxmlformats.org/officeDocument/2006/relationships" id="269" r:id="R7165766380684647"/>
    <p:sldId xmlns:r="http://schemas.openxmlformats.org/officeDocument/2006/relationships" id="270" r:id="Rd2e8449bafdf4d5e"/>
    <p:sldId xmlns:r="http://schemas.openxmlformats.org/officeDocument/2006/relationships" id="271" r:id="Rb6dbc1c0fe0d4801"/>
    <p:sldId xmlns:r="http://schemas.openxmlformats.org/officeDocument/2006/relationships" id="272" r:id="R424ba2dcd9874a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6b02fdcd1a4576" /><Relationship Type="http://schemas.openxmlformats.org/officeDocument/2006/relationships/slideMaster" Target="/ppt/slideMasters/slideMaster1.xml" Id="R47fe26a7350a4bd9" /><Relationship Type="http://schemas.openxmlformats.org/officeDocument/2006/relationships/notesMaster" Target="/ppt/notesMasters/notesMaster1.xml" Id="Re3fc752911ec4b64" /><Relationship Type="http://schemas.openxmlformats.org/officeDocument/2006/relationships/presProps" Target="/ppt/presProps.xml" Id="R918eb5cef3584391" /><Relationship Type="http://schemas.openxmlformats.org/officeDocument/2006/relationships/tableStyles" Target="/ppt/tableStyles.xml" Id="R0273a94c467e42f6" /><Relationship Type="http://schemas.openxmlformats.org/officeDocument/2006/relationships/slide" Target="/ppt/slides/slide1.xml" Id="R37fff37c77384aef" /><Relationship Type="http://schemas.openxmlformats.org/officeDocument/2006/relationships/slide" Target="/ppt/slides/slide2.xml" Id="Rfc479fd1ebe44b7d" /><Relationship Type="http://schemas.openxmlformats.org/officeDocument/2006/relationships/slide" Target="/ppt/slides/slide3.xml" Id="R5c35de1f01814ab2" /><Relationship Type="http://schemas.openxmlformats.org/officeDocument/2006/relationships/slide" Target="/ppt/slides/slide4.xml" Id="Re98600a0c9434f6f" /><Relationship Type="http://schemas.openxmlformats.org/officeDocument/2006/relationships/slide" Target="/ppt/slides/slide5.xml" Id="R827ab1ad42e340d2" /><Relationship Type="http://schemas.openxmlformats.org/officeDocument/2006/relationships/slide" Target="/ppt/slides/slide6.xml" Id="Rd83ac543a30e458a" /><Relationship Type="http://schemas.openxmlformats.org/officeDocument/2006/relationships/slide" Target="/ppt/slides/slide7.xml" Id="Racffb70b8900494a" /><Relationship Type="http://schemas.openxmlformats.org/officeDocument/2006/relationships/slide" Target="/ppt/slides/slide8.xml" Id="R2804490b13f14690" /><Relationship Type="http://schemas.openxmlformats.org/officeDocument/2006/relationships/slide" Target="/ppt/slides/slide9.xml" Id="R072df4c587884809" /><Relationship Type="http://schemas.openxmlformats.org/officeDocument/2006/relationships/slide" Target="/ppt/slides/slide10.xml" Id="R2321c3c994474294" /><Relationship Type="http://schemas.openxmlformats.org/officeDocument/2006/relationships/slide" Target="/ppt/slides/slide11.xml" Id="Rb27068dd89134321" /><Relationship Type="http://schemas.openxmlformats.org/officeDocument/2006/relationships/slide" Target="/ppt/slides/slide12.xml" Id="Ra1f64646ea44488f" /><Relationship Type="http://schemas.openxmlformats.org/officeDocument/2006/relationships/slide" Target="/ppt/slides/slide13.xml" Id="R389dcbec13ee43ff" /><Relationship Type="http://schemas.openxmlformats.org/officeDocument/2006/relationships/slide" Target="/ppt/slides/slide14.xml" Id="R7165766380684647" /><Relationship Type="http://schemas.openxmlformats.org/officeDocument/2006/relationships/slide" Target="/ppt/slides/slide15.xml" Id="Rd2e8449bafdf4d5e" /><Relationship Type="http://schemas.openxmlformats.org/officeDocument/2006/relationships/slide" Target="/ppt/slides/slide16.xml" Id="Rb6dbc1c0fe0d4801" /><Relationship Type="http://schemas.openxmlformats.org/officeDocument/2006/relationships/slide" Target="/ppt/slides/slide17.xml" Id="R424ba2dcd9874a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3ffd1f850549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a4bb14de6641b4" /><Relationship Type="http://schemas.openxmlformats.org/officeDocument/2006/relationships/notesMaster" Target="/ppt/notesMasters/notesMaster1.xml" Id="R45da39ecb42f4e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3e7d328db14896" /><Relationship Type="http://schemas.openxmlformats.org/officeDocument/2006/relationships/notesMaster" Target="/ppt/notesMasters/notesMaster1.xml" Id="Redcff4c7eeb642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999732692d4799" /><Relationship Type="http://schemas.openxmlformats.org/officeDocument/2006/relationships/notesMaster" Target="/ppt/notesMasters/notesMaster1.xml" Id="R2c23869036e046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faac49a85947a9" /><Relationship Type="http://schemas.openxmlformats.org/officeDocument/2006/relationships/notesMaster" Target="/ppt/notesMasters/notesMaster1.xml" Id="R1c86213649eb41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35baaee3504a55" /><Relationship Type="http://schemas.openxmlformats.org/officeDocument/2006/relationships/notesMaster" Target="/ppt/notesMasters/notesMaster1.xml" Id="R8ec55a7568724d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edd5cb355644eb" /><Relationship Type="http://schemas.openxmlformats.org/officeDocument/2006/relationships/notesMaster" Target="/ppt/notesMasters/notesMaster1.xml" Id="R651a0a2ba49548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15c7f38c454d16" /><Relationship Type="http://schemas.openxmlformats.org/officeDocument/2006/relationships/notesMaster" Target="/ppt/notesMasters/notesMaster1.xml" Id="R9a24b205bfcf46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3ba82d27694852" /><Relationship Type="http://schemas.openxmlformats.org/officeDocument/2006/relationships/notesMaster" Target="/ppt/notesMasters/notesMaster1.xml" Id="R88b9c1a1a52d47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ef999148974614" /><Relationship Type="http://schemas.openxmlformats.org/officeDocument/2006/relationships/notesMaster" Target="/ppt/notesMasters/notesMaster1.xml" Id="R5ae2c72d051a49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58a426dff04cf0" /><Relationship Type="http://schemas.openxmlformats.org/officeDocument/2006/relationships/notesMaster" Target="/ppt/notesMasters/notesMaster1.xml" Id="R433443cb067a43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db8487d050460f" /><Relationship Type="http://schemas.openxmlformats.org/officeDocument/2006/relationships/notesMaster" Target="/ppt/notesMasters/notesMaster1.xml" Id="R080468fa4c1849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6619575f374052" /><Relationship Type="http://schemas.openxmlformats.org/officeDocument/2006/relationships/notesMaster" Target="/ppt/notesMasters/notesMaster1.xml" Id="R840962621ae943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1316d3300e146b6" /><Relationship Type="http://schemas.openxmlformats.org/officeDocument/2006/relationships/notesMaster" Target="/ppt/notesMasters/notesMaster1.xml" Id="Rbc819a3288884e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6e714a178549ef" /><Relationship Type="http://schemas.openxmlformats.org/officeDocument/2006/relationships/notesMaster" Target="/ppt/notesMasters/notesMaster1.xml" Id="R313a58b375cd481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0d455cf002f4e4f" /><Relationship Type="http://schemas.openxmlformats.org/officeDocument/2006/relationships/notesMaster" Target="/ppt/notesMasters/notesMaster1.xml" Id="Rdb6985536de54d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42807a6a75d47cf" /><Relationship Type="http://schemas.openxmlformats.org/officeDocument/2006/relationships/notesMaster" Target="/ppt/notesMasters/notesMaster1.xml" Id="R7823a06f0c8444d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8af0daebd7433b" /><Relationship Type="http://schemas.openxmlformats.org/officeDocument/2006/relationships/notesMaster" Target="/ppt/notesMasters/notesMaster1.xml" Id="R7f1150f8529942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presentation examines how classical machine learning and deep learning approach the same recommendation problem. The application is movie recommendation using MovieLens 100K. The two models are biased matrix factorisation and a neural collaborative filtering model.</a:t>
            </a:r>
          </a:p>
          <a:p xmlns:a="http://schemas.openxmlformats.org/drawingml/2006/main">
            <a:r>
              <a:t/>
            </a:r>
          </a:p>
          <a:p xmlns:a="http://schemas.openxmlformats.org/drawingml/2006/main">
            <a:r>
              <a:t>The main question is whether the neural model offers enough benefit to justify its additional complexity. I consider rating accuracy, recommendation ranking, validation, explainability and ethical risks. I also discuss what would be necessary to operate either model in a real service.</a:t>
            </a:r>
          </a:p>
          <a:p xmlns:a="http://schemas.openxmlformats.org/drawingml/2006/main">
            <a:r>
              <a:t/>
            </a:r>
          </a:p>
          <a:p xmlns:a="http://schemas.openxmlformats.org/drawingml/2006/main">
            <a:r>
              <a:t>My argument is that model choice should follow evidence about the intended use. A small improvement in an offline score may have limited value if it increases cost or leaves some users with worse recommendations. I will explain the experimental design, identify the evidence needed for comparison, and finish with a conditional deployment recommendation.</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has two related objectives. Rating prediction estimates the score a user might give a film on a scale from one to five. Ranking places potentially relevant films near the top of a recommendation list.</a:t>
            </a:r>
          </a:p>
          <a:p xmlns:a="http://schemas.openxmlformats.org/drawingml/2006/main">
            <a:r>
              <a:t/>
            </a:r>
          </a:p>
          <a:p xmlns:a="http://schemas.openxmlformats.org/drawingml/2006/main">
            <a:r>
              <a:t>These objectives can disagree. A model may predict many average ratings accurately while failing to identify the film a user would most enjoy. I therefore use both rating error and ranking quality.</a:t>
            </a:r>
          </a:p>
          <a:p xmlns:a="http://schemas.openxmlformats.org/drawingml/2006/main">
            <a:r>
              <a:t/>
            </a:r>
          </a:p>
          <a:p xmlns:a="http://schemas.openxmlformats.org/drawingml/2006/main">
            <a:r>
              <a:t>The comparison holds the dataset and evaluation protocol constant. This helps attribute differences to modelling choices. It does not eliminate every confounder, because training budgets, tuning effort and random initialisation can also influence the outcome. Rendle et al. (2020) show why a carefully tuned matrix factorisation baseline is essential when assessing neural recommenders.</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100K is a public research benchmark from GroupLens at the University of Minnesota. Its official documentation records one hundred thousand ratings from 943 users on 1,682 films. Each included user contributed at least twenty ratings. These characteristics make it manageable for a transparent comparison, while still presenting the sparsity found in recommendation problems (GroupLens Research, 1998).</a:t>
            </a:r>
          </a:p>
          <a:p xmlns:a="http://schemas.openxmlformats.org/drawingml/2006/main">
            <a:r>
              <a:t/>
            </a:r>
          </a:p>
          <a:p xmlns:a="http://schemas.openxmlformats.org/drawingml/2006/main">
            <a:r>
              <a:t>Most possible user–film combinations have no observed rating. An absent rating cannot safely be treated as dislike. The user might never have encountered the film.</a:t>
            </a:r>
          </a:p>
          <a:p xmlns:a="http://schemas.openxmlformats.org/drawingml/2006/main">
            <a:r>
              <a:t/>
            </a:r>
          </a:p>
          <a:p xmlns:a="http://schemas.openxmlformats.org/drawingml/2006/main">
            <a:r>
              <a:t>The benchmark also has selection limitations. It represents people who used a particular service and provided sufficient ratings. It excludes genuinely new users, and its historical catalogue cannot establish performance for present-day audiences. Harper and Konstan (2015) provide the wider context for interpreting MovieLens datasets. I use the benchmark to study model behaviour rather than to claim immediate commercial effectiveness.</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loads the official ratings, user and film files. Core checks count missing values and duplicate user–film pairs. User and film identifiers map to consecutive integers, which allow efficient indexing of factor and embedding tables. The numerical identifiers are labels, so their numerical distance has no meaningful interpretation.</a:t>
            </a:r>
          </a:p>
          <a:p xmlns:a="http://schemas.openxmlformats.org/drawingml/2006/main">
            <a:r>
              <a:t/>
            </a:r>
          </a:p>
          <a:p xmlns:a="http://schemas.openxmlformats.org/drawingml/2006/main">
            <a:r>
              <a:t>Ratings retain their original one-to-five scale. Demographic information stays outside the prediction inputs and supports aggregate diagnostic analysis only. This separation reduces unnecessary use of sensitive attributes, although it does not remove indirect bias.</a:t>
            </a:r>
          </a:p>
          <a:p xmlns:a="http://schemas.openxmlformats.org/drawingml/2006/main">
            <a:r>
              <a:t/>
            </a:r>
          </a:p>
          <a:p xmlns:a="http://schemas.openxmlformats.org/drawingml/2006/main">
            <a:r>
              <a:t>NumPy implements the classical model explicitly. Pandas supports data checks, scikit-learn supplies evaluation and splitting utilities, and PyTorch expresses the neural architecture and automatic differentiation. These choices make the pipeline inspectable. Reproducibility also requires saved package versions, data provenance, split indices and model settings. A random seed alone cannot guarantee identical results across every environment.</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user, the latest observed interaction becomes the test example. The second latest becomes validation data, and earlier interactions form the training set. Validation guides stopping decisions. The test set supports the final comparison after those decisions are complete.</a:t>
            </a:r>
          </a:p>
          <a:p xmlns:a="http://schemas.openxmlformats.org/drawingml/2006/main">
            <a:r>
              <a:t/>
            </a:r>
          </a:p>
          <a:p xmlns:a="http://schemas.openxmlformats.org/drawingml/2006/main">
            <a:r>
              <a:t>This design preserves order within each user’s history. It is stronger than unrestricted random splitting for a next-interaction question, but it is not a fully global chronological experiment. Another user’s training rating may occur after the time of a particular test event. Therefore, I would add global time windows before claiming realistic prospective performance.</a:t>
            </a:r>
          </a:p>
          <a:p xmlns:a="http://schemas.openxmlformats.org/drawingml/2006/main">
            <a:r>
              <a:t/>
            </a:r>
          </a:p>
          <a:p xmlns:a="http://schemas.openxmlformats.org/drawingml/2006/main">
            <a:r>
              <a:t>The notebook also includes a three-fold development sensitivity check. Shuffled folds assess sensitivity to partitioning, but they do not reproduce temporal deployment. Moreover, if an outer fold guides early stopping, its reported score is a development estimate. A stricter design reserves an inner validation set for stopping and evaluates once on the outer fold.</a:t>
            </a:r>
          </a:p>
          <a:p xmlns:a="http://schemas.openxmlformats.org/drawingml/2006/main">
            <a:r>
              <a:t/>
            </a:r>
          </a:p>
          <a:p xmlns:a="http://schemas.openxmlformats.org/drawingml/2006/main">
            <a:r>
              <a:t>These distinctions matter because favourable training results can reflect memorisation. Generalisation requires evidence from observations that did not determine the fitted parameters or model selection.</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classical model predicts a rating by adding a global mean, a user bias, a film bias and the dot product of two latent vectors. This follows the matrix factorisation approach described by Koren, Bell and Volinsky (2009).</a:t>
            </a:r>
          </a:p>
          <a:p xmlns:a="http://schemas.openxmlformats.org/drawingml/2006/main">
            <a:r>
              <a:t/>
            </a:r>
          </a:p>
          <a:p xmlns:a="http://schemas.openxmlformats.org/drawingml/2006/main">
            <a:r>
              <a:t>The biases capture systematic tendencies. Some users give generous ratings, and some films attract high scores across many viewers. The latent interaction captures patterns that remain after those tendencies.</a:t>
            </a:r>
          </a:p>
          <a:p xmlns:a="http://schemas.openxmlformats.org/drawingml/2006/main">
            <a:r>
              <a:t/>
            </a:r>
          </a:p>
          <a:p xmlns:a="http://schemas.openxmlformats.org/drawingml/2006/main">
            <a:r>
              <a:t>The implementation uses twenty latent factors, a learning rate of zero point zero one, and L2 regularisation of zero point zero three. It allows up to twenty-five epochs and stops after three validation checks without sufficient improvement. Predictions are clipped to the valid rating range.</a:t>
            </a:r>
          </a:p>
          <a:p xmlns:a="http://schemas.openxmlformats.org/drawingml/2006/main">
            <a:r>
              <a:t/>
            </a:r>
          </a:p>
          <a:p xmlns:a="http://schemas.openxmlformats.org/drawingml/2006/main">
            <a:r>
              <a:t>These are reasonable starting settings rather than demonstrated optimal values. A fair comparison would document a comparable tuning budget for both models. Latent dimensions also lack automatic semantic labels. A factor cannot simply be called an action-film preference without supporting analysis.</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neural model replaces the dot-product interaction with a multilayer network. User and film identifiers enter separate twenty-four-dimensional embedding tables. Concatenation produces forty-eight input features. Two hidden layers contain sixty-four and thirty-two ReLU units. A sigmoid output is rescaled to the rating range.</a:t>
            </a:r>
          </a:p>
          <a:p xmlns:a="http://schemas.openxmlformats.org/drawingml/2006/main">
            <a:r>
              <a:t/>
            </a:r>
          </a:p>
          <a:p xmlns:a="http://schemas.openxmlformats.org/drawingml/2006/main">
            <a:r>
              <a:t>Training uses mean squared error, mini-batches of 1,024 and Adam with an initial learning rate of zero point zero zero two. Dropout is zero point one five, weight decay is one times ten to the minus five, and validation performance controls learning-rate reduction and early stopping.</a:t>
            </a:r>
          </a:p>
          <a:p xmlns:a="http://schemas.openxmlformats.org/drawingml/2006/main">
            <a:r>
              <a:t/>
            </a:r>
          </a:p>
          <a:p xmlns:a="http://schemas.openxmlformats.org/drawingml/2006/main">
            <a:r>
              <a:t>He et al. (2017) introduced a broader neural collaborative filtering framework for implicit feedback. This notebook adapts the embedding-and-network idea to explicit rating regression. It is not a direct reproduction of their original experimental setup.</a:t>
            </a:r>
          </a:p>
          <a:p xmlns:a="http://schemas.openxmlformats.org/drawingml/2006/main">
            <a:r>
              <a:t/>
            </a:r>
          </a:p>
          <a:p xmlns:a="http://schemas.openxmlformats.org/drawingml/2006/main">
            <a:r>
              <a:t>The attraction is a more flexible interaction function. The risk is that additional capacity fits noise or requires more tuning than the available evidence supports.</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Matrix factorisation has a constrained dot-product interaction. The neural model can represent more complex relationships, but that flexibility does not guarantee better recommendations.</a:t>
            </a:r>
          </a:p>
          <a:p xmlns:a="http://schemas.openxmlformats.org/drawingml/2006/main">
            <a:r>
              <a:t/>
            </a:r>
          </a:p>
          <a:p xmlns:a="http://schemas.openxmlformats.org/drawingml/2006/main">
            <a:r>
              <a:t>The classical dot product also supports efficient retrieval methods when a catalogue grows. A multilayer scorer generally needs a separate candidate-retrieval stage before ranking. This distinction can matter more in production than a small difference in test error (Rendle et al., 2020).</a:t>
            </a:r>
          </a:p>
          <a:p xmlns:a="http://schemas.openxmlformats.org/drawingml/2006/main">
            <a:r>
              <a:t/>
            </a:r>
          </a:p>
          <a:p xmlns:a="http://schemas.openxmlformats.org/drawingml/2006/main">
            <a:r>
              <a:t>Both models face cold start. A new user or film has no adequately trained identifier representation. Possible responses include onboarding preferences, content features and diverse popularity fallbacks. Neither model solves that problem simply by increasing its latent dimension. Training time, model size and inference latency need measurement on comparable hardware before making efficiency claims.</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 mean squared error measures the size of rating mistakes. Lower is better. Squaring the residuals gives greater weight to large errors, which can help identify unreliable predictions. However, the metric does not directly represent the order of recommendations.</a:t>
            </a:r>
          </a:p>
          <a:p xmlns:a="http://schemas.openxmlformats.org/drawingml/2006/main">
            <a:r>
              <a:t/>
            </a:r>
          </a:p>
          <a:p xmlns:a="http://schemas.openxmlformats.org/drawingml/2006/main">
            <a:r>
              <a:t>Normalised discounted cumulative gain at ten, or NDCG at ten, rewards relevant items appearing near the top of a list. In this notebook, a held-out rating of four or five defines a relevant item. Each eligible user’s held-out item competes against up to one hundred sampled unrated films. Both models must receive identical candidate sets.</a:t>
            </a:r>
          </a:p>
          <a:p xmlns:a="http://schemas.openxmlformats.org/drawingml/2006/main">
            <a:r>
              <a:t/>
            </a:r>
          </a:p>
          <a:p xmlns:a="http://schemas.openxmlformats.org/drawingml/2006/main">
            <a:r>
              <a:t>With one relevant item, its contribution is one divided by the base-two logarithm of its rank plus one, provided it appears in the first ten places. Otherwise, the contribution is zero.</a:t>
            </a:r>
          </a:p>
          <a:p xmlns:a="http://schemas.openxmlformats.org/drawingml/2006/main">
            <a:r>
              <a:t/>
            </a:r>
          </a:p>
          <a:p xmlns:a="http://schemas.openxmlformats.org/drawingml/2006/main">
            <a:r>
              <a:t>Unrated candidates are unlabelled rather than confirmed negatives. Sampled ranking also differs from full-catalogue ranking. I therefore report the sampling rule, random seed and number of eligible users alongside the score.</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table should bring together test RMSE, sampled NDCG at ten, development-fold variation and model size. I would judge the models against the same evaluation examples and consider whether any difference is stable enough to matter.</a:t>
            </a:r>
          </a:p>
          <a:p xmlns:a="http://schemas.openxmlformats.org/drawingml/2006/main">
            <a:r>
              <a:t/>
            </a:r>
          </a:p>
          <a:p xmlns:a="http://schemas.openxmlformats.org/drawingml/2006/main">
            <a:r>
              <a:t>[READ VERIFIED OUTPUTS: Matrix factorisation test RMSE: ____. Neural model test RMSE: ____. Their sampled NDCG at ten values are ____ and ____. The ranking evaluation includes ____ eligible users.]</a:t>
            </a:r>
          </a:p>
          <a:p xmlns:a="http://schemas.openxmlformats.org/drawingml/2006/main">
            <a:r>
              <a:t/>
            </a:r>
          </a:p>
          <a:p xmlns:a="http://schemas.openxmlformats.org/drawingml/2006/main">
            <a:r>
              <a:t>[DEMONSTRATION: Show the executed notebook for about sixty seconds. Display the split counts and final comparison table. Select one held-out user, show the observed rating and both predictions, then display a saved recommendation list. Explain one agreement or disagreement between the models. Do not retrain during recording.]</a:t>
            </a:r>
          </a:p>
          <a:p xmlns:a="http://schemas.openxmlformats.org/drawingml/2006/main">
            <a:r>
              <a:t/>
            </a:r>
          </a:p>
          <a:p xmlns:a="http://schemas.openxmlformats.org/drawingml/2006/main">
            <a:r>
              <a:t>A single example illustrates behaviour but cannot establish overall superiority. The aggregate table and validation curves answer different questions. Curves show whether validation performance improves or deteriorates during training. Fold variation shows sensitivity to data partitioning.</a:t>
            </a:r>
          </a:p>
          <a:p xmlns:a="http://schemas.openxmlformats.org/drawingml/2006/main">
            <a:r>
              <a:t/>
            </a:r>
          </a:p>
          <a:p xmlns:a="http://schemas.openxmlformats.org/drawingml/2006/main">
            <a:r>
              <a:t>If the neural model improves ranking but worsens rating error, I would relate that trade-off to the product’s main objective. A ranked film carousel may prioritise ranking, while a service displaying predicted star ratings also needs accurate scores. Any final claim must match the executed outputs rather than expectations about deep learning.</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offers two complementary explanations. For matrix factorisation, it decomposes one unbounded predicted score into the global mean, user bias, film bias and latent interaction. If clipping changes that score, the explanation must also show the final bounded prediction.</a:t>
            </a:r>
          </a:p>
          <a:p xmlns:a="http://schemas.openxmlformats.org/drawingml/2006/main">
            <a:r>
              <a:t/>
            </a:r>
          </a:p>
          <a:p xmlns:a="http://schemas.openxmlformats.org/drawingml/2006/main">
            <a:r>
              <a:t>This decomposition can reveal whether a recommendation mainly reflects general film popularity or a user-specific interaction. It is an exact account of the formula, but it does not make the latent factors understandable in everyday language.</a:t>
            </a:r>
          </a:p>
          <a:p xmlns:a="http://schemas.openxmlformats.org/drawingml/2006/main">
            <a:r>
              <a:t/>
            </a:r>
          </a:p>
          <a:p xmlns:a="http://schemas.openxmlformats.org/drawingml/2006/main">
            <a:r>
              <a:t>For the neural model, the notebook permutes user or film identifiers and measures the change in RMSE. A larger deterioration indicates stronger dependence on that input under the chosen perturbation. This technique meets the brief’s allowance for an explainability approach beyond the listed examples.</a:t>
            </a:r>
          </a:p>
          <a:p xmlns:a="http://schemas.openxmlformats.org/drawingml/2006/main">
            <a:r>
              <a:t/>
            </a:r>
          </a:p>
          <a:p xmlns:a="http://schemas.openxmlformats.org/drawingml/2006/main">
            <a:r>
              <a:t>[INSERT VERIFIED EXPLANATION: For the chosen example, the dominant MF component is ____. Across repeated permutations, the larger neural error increase follows ____ permutation.]</a:t>
            </a:r>
          </a:p>
          <a:p xmlns:a="http://schemas.openxmlformats.org/drawingml/2006/main">
            <a:r>
              <a:t/>
            </a:r>
          </a:p>
          <a:p xmlns:a="http://schemas.openxmlformats.org/drawingml/2006/main">
            <a:r>
              <a:t>Permutation dependence is not a causal explanation. Shuffling identifiers can create unfamiliar combinations, and results depend on the reference distribution. Repeated shuffles and uncertainty estimates strengthen interpretation. User-facing explanations would need separate validation.</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Average performance can conceal unequal service quality. The most relevant diagnostic here compares users with different amounts of historical activity. A model has less evidence about users who rated fewer films, which may increase uncertainty.</a:t>
            </a:r>
          </a:p>
          <a:p xmlns:a="http://schemas.openxmlformats.org/drawingml/2006/main">
            <a:r>
              <a:t/>
            </a:r>
          </a:p>
          <a:p xmlns:a="http://schemas.openxmlformats.org/drawingml/2006/main">
            <a:r>
              <a:t>For deployment analysis, activity bands should use training history only. Counts calculated from the full dataset contain information unavailable at the prediction time. I would report each group’s size, RMSE and ranking quality, with uncertainty where feasible.</a:t>
            </a:r>
          </a:p>
          <a:p xmlns:a="http://schemas.openxmlformats.org/drawingml/2006/main">
            <a:r>
              <a:t/>
            </a:r>
          </a:p>
          <a:p xmlns:a="http://schemas.openxmlformats.org/drawingml/2006/main">
            <a:r>
              <a:t>[INSERT VERIFIED DIAGNOSTIC: The largest observed error occurs in ____ users. The group contains ____ test examples. The difference between the highest and lowest group RMSE is ____.]</a:t>
            </a:r>
          </a:p>
          <a:p xmlns:a="http://schemas.openxmlformats.org/drawingml/2006/main">
            <a:r>
              <a:t/>
            </a:r>
          </a:p>
          <a:p xmlns:a="http://schemas.openxmlformats.org/drawingml/2006/main">
            <a:r>
              <a:t>The notebook also permits aggregate age and gender diagnostics. These historical categories have limitations and cannot capture every relevant identity or intersection. Similar group RMSE would still leave questions about catalogue exposure and niche interests. This analysis can identify a disparity, but it cannot certify fairness.</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false positive occurs when the system treats an unsuitable film as relevant. A false negative occurs when it fails to surface a film the user would value. Repeated mistakes can waste attention, narrow discovery and reduce exposure for less popular creators.</a:t>
            </a:r>
          </a:p>
          <a:p xmlns:a="http://schemas.openxmlformats.org/drawingml/2006/main">
            <a:r>
              <a:t/>
            </a:r>
          </a:p>
          <a:p xmlns:a="http://schemas.openxmlformats.org/drawingml/2006/main">
            <a:r>
              <a:t>Feedback loops add another risk. Recommendations influence viewing, and viewing can become future training data. The system may then reinforce its earlier choices. Monitoring should therefore include catalogue coverage and concentration of exposure, alongside accuracy.</a:t>
            </a:r>
          </a:p>
          <a:p xmlns:a="http://schemas.openxmlformats.org/drawingml/2006/main">
            <a:r>
              <a:t/>
            </a:r>
          </a:p>
          <a:p xmlns:a="http://schemas.openxmlformats.org/drawingml/2006/main">
            <a:r>
              <a:t>Privacy also requires attention. User identifiers are pseudonymous, but the dataset includes demographic fields. A production service should minimise collection, restrict access and define retention and deletion processes. Research availability does not establish consent for every future use.</a:t>
            </a:r>
          </a:p>
          <a:p xmlns:a="http://schemas.openxmlformats.org/drawingml/2006/main">
            <a:r>
              <a:t/>
            </a:r>
          </a:p>
          <a:p xmlns:a="http://schemas.openxmlformats.org/drawingml/2006/main">
            <a:r>
              <a:t>The official MovieLens terms require permission for commercial or revenue-bearing use and restrict redistribution. Any real deployment would need appropriately permitted data. NIST’s risk framework supports assessing these issues throughout the system’s lifecycle (Tabassi, 2023).</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possible service begins with an authenticated request. Candidate retrieval narrows the film catalogue, the selected model scores candidates, and policy checks apply availability and suitability rules before returning recommendations.</a:t>
            </a:r>
          </a:p>
          <a:p xmlns:a="http://schemas.openxmlformats.org/drawingml/2006/main">
            <a:r>
              <a:t/>
            </a:r>
          </a:p>
          <a:p xmlns:a="http://schemas.openxmlformats.org/drawingml/2006/main">
            <a:r>
              <a:t>The model, identifier mappings and preprocessing configuration must share a version. Unknown identifiers require a tested fallback. Managed cloud infrastructure could host the service, but choosing a platform would require evidence about costs, latency and data handling.</a:t>
            </a:r>
          </a:p>
          <a:p xmlns:a="http://schemas.openxmlformats.org/drawingml/2006/main">
            <a:r>
              <a:t/>
            </a:r>
          </a:p>
          <a:p xmlns:a="http://schemas.openxmlformats.org/drawingml/2006/main">
            <a:r>
              <a:t>Monitoring should cover response times, failures and changes in rating or score distributions. Quality monitoring also needs delayed user feedback, group-level performance and catalogue exposure. Drift signals should trigger investigation because distribution change alone does not prove quality has declined.</a:t>
            </a:r>
          </a:p>
          <a:p xmlns:a="http://schemas.openxmlformats.org/drawingml/2006/main">
            <a:r>
              <a:t/>
            </a:r>
          </a:p>
          <a:p xmlns:a="http://schemas.openxmlformats.org/drawingml/2006/main">
            <a:r>
              <a:t>Retraining should use a documented data snapshot, repeat validation and diagnostic checks, and permit rollback. Users should be able to dismiss suggestions or reset preferences. These controls connect operational reliability to the ethical concerns identified earlier.</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provisional recommendation is to treat matrix factorisation as the initial deployment candidate. Its simpler interaction structure and inspectable score decomposition make it a useful starting point. This is an engineering judgement, not a claim of measured superiority in this project.</a:t>
            </a:r>
          </a:p>
          <a:p xmlns:a="http://schemas.openxmlformats.org/drawingml/2006/main">
            <a:r>
              <a:t/>
            </a:r>
          </a:p>
          <a:p xmlns:a="http://schemas.openxmlformats.org/drawingml/2006/main">
            <a:r>
              <a:t>The neural model becomes preferable if executed evidence demonstrates a meaningful improvement on the intended objective, acceptable performance across activity groups, and an operational cost the service can support.</a:t>
            </a:r>
          </a:p>
          <a:p xmlns:a="http://schemas.openxmlformats.org/drawingml/2006/main">
            <a:r>
              <a:t/>
            </a:r>
          </a:p>
          <a:p xmlns:a="http://schemas.openxmlformats.org/drawingml/2006/main">
            <a:r>
              <a:t>A final decision should also compare full-catalogue ranking and realistic time-based validation. A limited online pilot could then assess user satisfaction and discovery, subject to appropriate controls. Neither model should enter a consequential application merely because it performs well on this historical benchmark. The scope of the recommendation remains movie discovery with new, permitted and representative operational data.</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shows how model architecture, evaluation and governance fit together. Matrix factorisation constrains the interaction, while the neural model introduces additional flexibility. Validation determines whether that flexibility produces a reliable benefit.</a:t>
            </a:r>
          </a:p>
          <a:p xmlns:a="http://schemas.openxmlformats.org/drawingml/2006/main">
            <a:r>
              <a:t/>
            </a:r>
          </a:p>
          <a:p xmlns:a="http://schemas.openxmlformats.org/drawingml/2006/main">
            <a:r>
              <a:t>The next steps are to complete the executed evidence, strengthen chronological testing, and examine ranking and subgroup outcomes together. The deployment decision should follow those results and the needs of the service. Thank you for listening.</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list records the dataset documentation, model research and risk-management framework supporting this presentation.</a:t>
            </a:r>
          </a:p>
          <a:p xmlns:a="http://schemas.openxmlformats.org/drawingml/2006/main">
            <a:r>
              <a:t/>
            </a:r>
          </a:p>
          <a:p xmlns:a="http://schemas.openxmlformats.org/drawingml/2006/main">
            <a:r>
              <a:t>References</a:t>
            </a:r>
          </a:p>
          <a:p xmlns:a="http://schemas.openxmlformats.org/drawingml/2006/main">
            <a:r>
              <a:t>GroupLens Research (1998) MovieLens 100K dataset: README. Available at: https://files.grouplens.org/datasets/movielens/ml-100k-README.txt (Accessed: 19 October 2026).</a:t>
            </a:r>
          </a:p>
          <a:p xmlns:a="http://schemas.openxmlformats.org/drawingml/2006/main">
            <a:r>
              <a:t>Harper, F.M. and Konstan, J.A. (2015) ‘The MovieLens datasets: History and context’, ACM Transactions on Interactive Intelligent Systems, 5(4), article 19, pp. 1–19. https://doi.org/10.1145/2827872.</a:t>
            </a:r>
          </a:p>
          <a:p xmlns:a="http://schemas.openxmlformats.org/drawingml/2006/main">
            <a:r>
              <a:t>He, X., Liao, L., Zhang, H., Nie, L., Hu, X. and Chua, T.-S. (2017) ‘Neural collaborative filtering’, Proceedings of the 26th International Conference on World Wide Web, pp. 173–182. https://doi.org/10.1145/3038912.3052569.</a:t>
            </a:r>
          </a:p>
          <a:p xmlns:a="http://schemas.openxmlformats.org/drawingml/2006/main">
            <a:r>
              <a:t>Koren, Y., Bell, R. and Volinsky, C. (2009) ‘Matrix factorization techniques for recommender systems’, Computer, 42(8), pp. 30–37. https://doi.org/10.1109/MC.2009.263.</a:t>
            </a:r>
          </a:p>
          <a:p xmlns:a="http://schemas.openxmlformats.org/drawingml/2006/main">
            <a:r>
              <a:t>Rendle, S., Krichene, W., Zhang, L. and Anderson, J. (2020) ‘Neural collaborative filtering vs. matrix factorization revisited’, Proceedings of the 14th ACM Conference on Recommender Systems, pp. 240–248. https://doi.org/10.1145/3383313.3412488.</a:t>
            </a:r>
          </a:p>
          <a:p xmlns:a="http://schemas.openxmlformats.org/drawingml/2006/main">
            <a:r>
              <a:t>Tabassi, E. (2023) Artificial Intelligence Risk Management Framework (AI RMF 1.0). NIST AI 100-1. Gaithersburg, MD: National Institute of Standards and Technology.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3590aef07345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bdcc36f111488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44dafe98994c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cce416d42c41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7c356b2abd46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044dc9f7f84c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C127DF-610E-499A-8549-6FB4B77F8A0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858286-E451-4682-972B-71F635DE3F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88A885-6F26-471F-AD41-3BB6E109C7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B7FEA2-29FE-40D6-916D-E5E287EF99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2FC758-7063-43E8-BBEC-CB0EA9F9430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F19BE0-4F5B-4A1F-B894-C5EB87B25A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C678BA-DC56-46FE-AD81-42EC27FF90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223FAD5-2092-45F9-9BF1-940A03DC374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6BB87A-A24C-47D3-B6D4-6E077207D2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44C6C8-64B1-4056-8B1B-7E16C4355C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0ce7828e524feb" /><Relationship Type="http://schemas.openxmlformats.org/officeDocument/2006/relationships/slideLayout" Target="/ppt/slideLayouts/slideLayout1.xml" Id="Rdc0c7b9678db45ef" /><Relationship Type="http://schemas.openxmlformats.org/officeDocument/2006/relationships/slideLayout" Target="/ppt/slideLayouts/slideLayout2.xml" Id="Raa2e2f6a2d6c41dd" /><Relationship Type="http://schemas.openxmlformats.org/officeDocument/2006/relationships/slideLayout" Target="/ppt/slideLayouts/slideLayout3.xml" Id="Ra5c9f637e45f4226" /><Relationship Type="http://schemas.openxmlformats.org/officeDocument/2006/relationships/slideLayout" Target="/ppt/slideLayouts/slideLayout4.xml" Id="R485b68035b234a0d" /><Relationship Type="http://schemas.openxmlformats.org/officeDocument/2006/relationships/slideLayout" Target="/ppt/slideLayouts/slideLayout5.xml" Id="Rf6daa362fe334b50" /><Relationship Type="http://schemas.openxmlformats.org/officeDocument/2006/relationships/slideLayout" Target="/ppt/slideLayouts/slideLayout6.xml" Id="Rc7f40a6a28aa4b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0c7b9678db45ef"/>
    <p:sldLayoutId xmlns:r="http://schemas.openxmlformats.org/officeDocument/2006/relationships" id="2147483650" r:id="Raa2e2f6a2d6c41dd"/>
    <p:sldLayoutId xmlns:r="http://schemas.openxmlformats.org/officeDocument/2006/relationships" id="2147483651" r:id="Ra5c9f637e45f4226"/>
    <p:sldLayoutId xmlns:r="http://schemas.openxmlformats.org/officeDocument/2006/relationships" id="2147483652" r:id="R485b68035b234a0d"/>
    <p:sldLayoutId xmlns:r="http://schemas.openxmlformats.org/officeDocument/2006/relationships" id="2147483653" r:id="Rf6daa362fe334b50"/>
    <p:sldLayoutId xmlns:r="http://schemas.openxmlformats.org/officeDocument/2006/relationships" id="2147483654" r:id="Rc7f40a6a28aa4b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791d7c274849e1" /><Relationship Type="http://schemas.openxmlformats.org/officeDocument/2006/relationships/notesSlide" Target="/ppt/notesSlides/notesSlide1.xml" Id="Rccde6df1725d49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8043a121f8d401f" /><Relationship Type="http://schemas.openxmlformats.org/officeDocument/2006/relationships/notesSlide" Target="/ppt/notesSlides/notesSlide2.xml" Id="Re5e5750d3cd648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11d629065a941cf" /><Relationship Type="http://schemas.openxmlformats.org/officeDocument/2006/relationships/notesSlide" Target="/ppt/notesSlides/notesSlide3.xml" Id="R58b66bd0fb1c4c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b680d696bad4a40" /><Relationship Type="http://schemas.openxmlformats.org/officeDocument/2006/relationships/notesSlide" Target="/ppt/notesSlides/notesSlide4.xml" Id="R707f548cf23149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39ad6e5f519415d" /><Relationship Type="http://schemas.openxmlformats.org/officeDocument/2006/relationships/notesSlide" Target="/ppt/notesSlides/notesSlide5.xml" Id="Rbcc7c698c1044d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886beff534746a3" /><Relationship Type="http://schemas.openxmlformats.org/officeDocument/2006/relationships/notesSlide" Target="/ppt/notesSlides/notesSlide6.xml" Id="R702368932b2d47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e0dabf7b1c7458f" /><Relationship Type="http://schemas.openxmlformats.org/officeDocument/2006/relationships/notesSlide" Target="/ppt/notesSlides/notesSlide7.xml" Id="Rac52dadf36ff46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31b9a44b1324759" /><Relationship Type="http://schemas.openxmlformats.org/officeDocument/2006/relationships/notesSlide" Target="/ppt/notesSlides/notesSlide8.xml" Id="R8ab7df3313154c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543765444a84385" /><Relationship Type="http://schemas.openxmlformats.org/officeDocument/2006/relationships/notesSlide" Target="/ppt/notesSlides/notesSlide9.xml" Id="R5c625e1ce2b8400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e7af93001c54c42" /><Relationship Type="http://schemas.openxmlformats.org/officeDocument/2006/relationships/notesSlide" Target="/ppt/notesSlides/notesSlide10.xml" Id="R04eb8afbc4a644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e176e9b8c6b4e61" /><Relationship Type="http://schemas.openxmlformats.org/officeDocument/2006/relationships/notesSlide" Target="/ppt/notesSlides/notesSlide11.xml" Id="R697e4ea8c3ed48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2d7951eeb73444f" /><Relationship Type="http://schemas.openxmlformats.org/officeDocument/2006/relationships/notesSlide" Target="/ppt/notesSlides/notesSlide12.xml" Id="R286fe138d97e457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757f9945daa4fb9" /><Relationship Type="http://schemas.openxmlformats.org/officeDocument/2006/relationships/notesSlide" Target="/ppt/notesSlides/notesSlide13.xml" Id="R401b53da4f9d4a5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a73b39ed0ac461a" /><Relationship Type="http://schemas.openxmlformats.org/officeDocument/2006/relationships/notesSlide" Target="/ppt/notesSlides/notesSlide14.xml" Id="Rfe145aff7e434e1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066162dfd2f489c" /><Relationship Type="http://schemas.openxmlformats.org/officeDocument/2006/relationships/notesSlide" Target="/ppt/notesSlides/notesSlide15.xml" Id="Refe99c21a9bb41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a48f32c38de4c48" /><Relationship Type="http://schemas.openxmlformats.org/officeDocument/2006/relationships/notesSlide" Target="/ppt/notesSlides/notesSlide16.xml" Id="R4df2f3a2f4fc433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756cbbe011349f0" /><Relationship Type="http://schemas.openxmlformats.org/officeDocument/2006/relationships/notesSlide" Target="/ppt/notesSlides/notesSlide17.xml" Id="R9750fedc8cfc4e90" /></Relationships>
</file>

<file path=ppt/slides/slide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48C3A40-D3A8-49CD-A00A-92A834113EA7}"/>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54296A8E-D834-40AC-A673-0F081159B759}"/>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Comparative intelligence and ethics</a:t>
            </a:r>
          </a:p>
        </p:txBody>
      </p:sp>
      <p:sp>
        <p:nvSpPr>
          <p:cNvPr id="4" name="">
            <a:extLst xmlns:a="http://schemas.openxmlformats.org/drawingml/2006/main">
              <a:ext uri="{FF2B5EF4-FFF2-40B4-BE49-F238E27FC236}">
                <a16:creationId xmlns:a16="http://schemas.microsoft.com/office/drawing/2014/main" id="{A20DCB37-61CF-40D7-96FB-6E944D64ECD8}"/>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C7313741-4514-4DA2-9135-1BE565C5591C}"/>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01</a:t>
            </a:r>
          </a:p>
        </p:txBody>
      </p:sp>
      <p:sp>
        <p:nvSpPr>
          <p:cNvPr id="6" name="">
            <a:extLst xmlns:a="http://schemas.openxmlformats.org/drawingml/2006/main">
              <a:ext uri="{FF2B5EF4-FFF2-40B4-BE49-F238E27FC236}">
                <a16:creationId xmlns:a16="http://schemas.microsoft.com/office/drawing/2014/main" id="{31A27FD8-3221-4D22-9F19-6B611FA8A8B1}"/>
              </a:ext>
            </a:extLst>
          </p:cNvPr>
          <p:cNvSpPr>
            <a:spLocks xmlns:a="http://schemas.openxmlformats.org/drawingml/2006/main" noGrp="1"/>
          </p:cNvSpPr>
          <p:nvPr/>
        </p:nvSpPr>
        <p:spPr>
          <a:xfrm xmlns:a="http://schemas.openxmlformats.org/drawingml/2006/main">
            <a:off x="685800" y="2238375"/>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800" b="1">
                <a:solidFill>
                  <a:srgbClr val="147D86"/>
                </a:solidFill>
              </a:defRPr>
            </a:defPPr>
            <a:lvl1pPr>
              <a:defRPr sz="4800" b="1">
                <a:solidFill>
                  <a:srgbClr val="147D86"/>
                </a:solidFill>
              </a:defRPr>
            </a:lvl1pPr>
            <a:lvl2pPr>
              <a:defRPr sz="4800" b="1">
                <a:solidFill>
                  <a:srgbClr val="147D86"/>
                </a:solidFill>
              </a:defRPr>
            </a:lvl2pPr>
            <a:lvl3pPr>
              <a:defRPr sz="4800" b="1">
                <a:solidFill>
                  <a:srgbClr val="147D86"/>
                </a:solidFill>
              </a:defRPr>
            </a:lvl3pPr>
            <a:lvl4pPr>
              <a:defRPr sz="4800" b="1">
                <a:solidFill>
                  <a:srgbClr val="147D86"/>
                </a:solidFill>
              </a:defRPr>
            </a:lvl4pPr>
            <a:lvl5pPr>
              <a:defRPr sz="4800" b="1">
                <a:solidFill>
                  <a:srgbClr val="147D86"/>
                </a:solidFill>
              </a:defRPr>
            </a:lvl5pPr>
            <a:lvl6pPr>
              <a:defRPr sz="4800" b="1">
                <a:solidFill>
                  <a:srgbClr val="147D86"/>
                </a:solidFill>
              </a:defRPr>
            </a:lvl6pPr>
            <a:lvl7pPr>
              <a:defRPr sz="4800" b="1">
                <a:solidFill>
                  <a:srgbClr val="147D86"/>
                </a:solidFill>
              </a:defRPr>
            </a:lvl7pPr>
            <a:lvl8pPr>
              <a:defRPr sz="4800" b="1">
                <a:solidFill>
                  <a:srgbClr val="147D86"/>
                </a:solidFill>
              </a:defRPr>
            </a:lvl8pPr>
            <a:lvl9pPr>
              <a:defRPr sz="4800" b="1">
                <a:solidFill>
                  <a:srgbClr val="147D86"/>
                </a:solidFill>
              </a:defRPr>
            </a:lvl9pPr>
          </a:lstStyle>
          <a:p xmlns:a="http://schemas.openxmlformats.org/drawingml/2006/main">
            <a:pPr>
              <a:defRPr sz="4800" b="1">
                <a:solidFill>
                  <a:srgbClr val="147D86"/>
                </a:solidFill>
              </a:defRPr>
            </a:pPr>
            <a:r>
              <a:rPr sz="4800" b="1">
                <a:solidFill>
                  <a:srgbClr val="147D86"/>
                </a:solidFill>
              </a:rPr>
              <a:t>MovieLens 100K</a:t>
            </a:r>
          </a:p>
        </p:txBody>
      </p:sp>
      <p:sp>
        <p:nvSpPr>
          <p:cNvPr id="7" name="">
            <a:extLst xmlns:a="http://schemas.openxmlformats.org/drawingml/2006/main">
              <a:ext uri="{FF2B5EF4-FFF2-40B4-BE49-F238E27FC236}">
                <a16:creationId xmlns:a16="http://schemas.microsoft.com/office/drawing/2014/main" id="{69D313EC-C585-4EB4-A656-D12F4531D917}"/>
              </a:ext>
            </a:extLst>
          </p:cNvPr>
          <p:cNvSpPr>
            <a:spLocks xmlns:a="http://schemas.openxmlformats.org/drawingml/2006/main" noGrp="1"/>
          </p:cNvSpPr>
          <p:nvPr/>
        </p:nvSpPr>
        <p:spPr>
          <a:xfrm xmlns:a="http://schemas.openxmlformats.org/drawingml/2006/main">
            <a:off x="685800" y="3381375"/>
            <a:ext cx="1057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7384C"/>
                </a:solidFill>
              </a:defRPr>
            </a:defPPr>
            <a:lvl1pPr>
              <a:defRPr sz="2700" b="0">
                <a:solidFill>
                  <a:srgbClr val="17384C"/>
                </a:solidFill>
              </a:defRPr>
            </a:lvl1pPr>
            <a:lvl2pPr>
              <a:defRPr sz="2700" b="0">
                <a:solidFill>
                  <a:srgbClr val="17384C"/>
                </a:solidFill>
              </a:defRPr>
            </a:lvl2pPr>
            <a:lvl3pPr>
              <a:defRPr sz="2700" b="0">
                <a:solidFill>
                  <a:srgbClr val="17384C"/>
                </a:solidFill>
              </a:defRPr>
            </a:lvl3pPr>
            <a:lvl4pPr>
              <a:defRPr sz="2700" b="0">
                <a:solidFill>
                  <a:srgbClr val="17384C"/>
                </a:solidFill>
              </a:defRPr>
            </a:lvl4pPr>
            <a:lvl5pPr>
              <a:defRPr sz="2700" b="0">
                <a:solidFill>
                  <a:srgbClr val="17384C"/>
                </a:solidFill>
              </a:defRPr>
            </a:lvl5pPr>
            <a:lvl6pPr>
              <a:defRPr sz="2700" b="0">
                <a:solidFill>
                  <a:srgbClr val="17384C"/>
                </a:solidFill>
              </a:defRPr>
            </a:lvl6pPr>
            <a:lvl7pPr>
              <a:defRPr sz="2700" b="0">
                <a:solidFill>
                  <a:srgbClr val="17384C"/>
                </a:solidFill>
              </a:defRPr>
            </a:lvl7pPr>
            <a:lvl8pPr>
              <a:defRPr sz="2700" b="0">
                <a:solidFill>
                  <a:srgbClr val="17384C"/>
                </a:solidFill>
              </a:defRPr>
            </a:lvl8pPr>
            <a:lvl9pPr>
              <a:defRPr sz="2700" b="0">
                <a:solidFill>
                  <a:srgbClr val="17384C"/>
                </a:solidFill>
              </a:defRPr>
            </a:lvl9pPr>
          </a:lstStyle>
          <a:p xmlns:a="http://schemas.openxmlformats.org/drawingml/2006/main">
            <a:pPr>
              <a:defRPr sz="2700" b="0">
                <a:solidFill>
                  <a:srgbClr val="17384C"/>
                </a:solidFill>
              </a:defRPr>
            </a:pPr>
            <a:r>
              <a:rPr sz="2700" b="0">
                <a:solidFill>
                  <a:srgbClr val="17384C"/>
                </a:solidFill>
              </a:rPr>
              <a:t>Matrix factorisation and neural collaborative filtering</a:t>
            </a:r>
          </a:p>
        </p:txBody>
      </p:sp>
      <p:sp>
        <p:nvSpPr>
          <p:cNvPr id="8" name="">
            <a:extLst xmlns:a="http://schemas.openxmlformats.org/drawingml/2006/main">
              <a:ext uri="{FF2B5EF4-FFF2-40B4-BE49-F238E27FC236}">
                <a16:creationId xmlns:a16="http://schemas.microsoft.com/office/drawing/2014/main" id="{F7C72120-2FF0-4BF3-B599-AC42F3B38263}"/>
              </a:ext>
            </a:extLst>
          </p:cNvPr>
          <p:cNvSpPr>
            <a:spLocks xmlns:a="http://schemas.openxmlformats.org/drawingml/2006/main" noGrp="1"/>
          </p:cNvSpPr>
          <p:nvPr/>
        </p:nvSpPr>
        <p:spPr>
          <a:xfrm xmlns:a="http://schemas.openxmlformats.org/drawingml/2006/main">
            <a:off x="685800" y="4905375"/>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52616C"/>
                </a:solidFill>
              </a:defRPr>
            </a:defPPr>
            <a:lvl1pPr>
              <a:defRPr sz="2100" b="0">
                <a:solidFill>
                  <a:srgbClr val="52616C"/>
                </a:solidFill>
              </a:defRPr>
            </a:lvl1pPr>
            <a:lvl2pPr>
              <a:defRPr sz="2100" b="0">
                <a:solidFill>
                  <a:srgbClr val="52616C"/>
                </a:solidFill>
              </a:defRPr>
            </a:lvl2pPr>
            <a:lvl3pPr>
              <a:defRPr sz="2100" b="0">
                <a:solidFill>
                  <a:srgbClr val="52616C"/>
                </a:solidFill>
              </a:defRPr>
            </a:lvl3pPr>
            <a:lvl4pPr>
              <a:defRPr sz="2100" b="0">
                <a:solidFill>
                  <a:srgbClr val="52616C"/>
                </a:solidFill>
              </a:defRPr>
            </a:lvl4pPr>
            <a:lvl5pPr>
              <a:defRPr sz="2100" b="0">
                <a:solidFill>
                  <a:srgbClr val="52616C"/>
                </a:solidFill>
              </a:defRPr>
            </a:lvl5pPr>
            <a:lvl6pPr>
              <a:defRPr sz="2100" b="0">
                <a:solidFill>
                  <a:srgbClr val="52616C"/>
                </a:solidFill>
              </a:defRPr>
            </a:lvl6pPr>
            <a:lvl7pPr>
              <a:defRPr sz="2100" b="0">
                <a:solidFill>
                  <a:srgbClr val="52616C"/>
                </a:solidFill>
              </a:defRPr>
            </a:lvl7pPr>
            <a:lvl8pPr>
              <a:defRPr sz="2100" b="0">
                <a:solidFill>
                  <a:srgbClr val="52616C"/>
                </a:solidFill>
              </a:defRPr>
            </a:lvl8pPr>
            <a:lvl9pPr>
              <a:defRPr sz="2100" b="0">
                <a:solidFill>
                  <a:srgbClr val="52616C"/>
                </a:solidFill>
              </a:defRPr>
            </a:lvl9pPr>
          </a:lstStyle>
          <a:p xmlns:a="http://schemas.openxmlformats.org/drawingml/2006/main">
            <a:pPr>
              <a:defRPr sz="2100" b="0">
                <a:solidFill>
                  <a:srgbClr val="52616C"/>
                </a:solidFill>
              </a:defRPr>
            </a:pPr>
            <a:r>
              <a:rPr sz="2100" b="0">
                <a:solidFill>
                  <a:srgbClr val="52616C"/>
                </a:solidFill>
              </a:rPr>
              <a:t>A comparison of performance, explanation and deployment risk</a:t>
            </a:r>
          </a:p>
        </p:txBody>
      </p:sp>
    </p:spTree>
    <p:extLst>
      <p:ext uri="{BB962C8B-B14F-4D97-AF65-F5344CB8AC3E}">
        <p14:creationId xmlns:p14="http://schemas.microsoft.com/office/powerpoint/2010/main" val="1087348955"/>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042B2C0-A7C9-4594-9236-930B8B629A18}"/>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119E2203-2283-4F68-B050-EDCCACAD4DA1}"/>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The recommendation problem</a:t>
            </a:r>
          </a:p>
        </p:txBody>
      </p:sp>
      <p:sp>
        <p:nvSpPr>
          <p:cNvPr id="4" name="">
            <a:extLst xmlns:a="http://schemas.openxmlformats.org/drawingml/2006/main">
              <a:ext uri="{FF2B5EF4-FFF2-40B4-BE49-F238E27FC236}">
                <a16:creationId xmlns:a16="http://schemas.microsoft.com/office/drawing/2014/main" id="{B4341A2B-121D-4B2A-ACBB-06E80F764E35}"/>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Rendle et al. (2020)</a:t>
            </a:r>
          </a:p>
        </p:txBody>
      </p:sp>
      <p:sp>
        <p:nvSpPr>
          <p:cNvPr id="5" name="">
            <a:extLst xmlns:a="http://schemas.openxmlformats.org/drawingml/2006/main">
              <a:ext uri="{FF2B5EF4-FFF2-40B4-BE49-F238E27FC236}">
                <a16:creationId xmlns:a16="http://schemas.microsoft.com/office/drawing/2014/main" id="{2361966E-B5B4-4FCA-A092-585BB41B0436}"/>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02</a:t>
            </a:r>
          </a:p>
        </p:txBody>
      </p:sp>
      <p:graphicFrame>
        <p:nvGraphicFramePr>
          <p:cNvPr id="6" name="">
            <a:extLst xmlns:a="http://schemas.openxmlformats.org/drawingml/2006/main">
              <a:ext uri="{FF2B5EF4-FFF2-40B4-BE49-F238E27FC236}">
                <a16:creationId xmlns:a16="http://schemas.microsoft.com/office/drawing/2014/main" id="{FD1D1E13-73B3-4997-8749-7319DFE01F5E}"/>
              </a:ext>
            </a:extLst>
          </p:cNvPr>
          <p:cNvGraphicFramePr/>
          <p:nvPr/>
        </p:nvGraphicFramePr>
        <p:xfrm>
          <a:off xmlns:a="http://schemas.openxmlformats.org/drawingml/2006/main" x="609600" y="2333625"/>
          <a:ext xmlns:a="http://schemas.openxmlformats.org/drawingml/2006/main" cx="10934700" cy="2286000"/>
        </p:xfrm>
        <a:graphic xmlns:a="http://schemas.openxmlformats.org/drawingml/2006/main">
          <a:graphicData uri="http://schemas.openxmlformats.org/drawingml/2006/table">
            <a:tbl>
              <a:tblPr/>
              <a:tblGrid>
                <a:gridCol w="3644900"/>
                <a:gridCol w="3644900"/>
                <a:gridCol w="3644900"/>
              </a:tblGrid>
              <a:tr h="762000">
                <a:tc>
                  <a:txBody>
                    <a:bodyPr/>
                    <a:lstStyle/>
                    <a:p>
                      <a:r>
                        <a:rPr sz="1725" b="1">
                          <a:solidFill>
                            <a:srgbClr val="FFFFFF"/>
                          </a:solidFill>
                        </a:rPr>
                        <a:t>Objective</a:t>
                      </a:r>
                    </a:p>
                  </a:txBody>
                  <a:tcPr marL="91440" marR="91440" marT="45720" marB="45720">
                    <a:solidFill>
                      <a:srgbClr val="17384C"/>
                    </a:solidFill>
                  </a:tcPr>
                </a:tc>
                <a:tc>
                  <a:txBody>
                    <a:bodyPr/>
                    <a:lstStyle/>
                    <a:p>
                      <a:r>
                        <a:rPr sz="1725" b="1">
                          <a:solidFill>
                            <a:srgbClr val="FFFFFF"/>
                          </a:solidFill>
                        </a:rPr>
                        <a:t>Question</a:t>
                      </a:r>
                    </a:p>
                  </a:txBody>
                  <a:tcPr marL="91440" marR="91440" marT="45720" marB="45720">
                    <a:solidFill>
                      <a:srgbClr val="17384C"/>
                    </a:solidFill>
                  </a:tcPr>
                </a:tc>
                <a:tc>
                  <a:txBody>
                    <a:bodyPr/>
                    <a:lstStyle/>
                    <a:p>
                      <a:r>
                        <a:rPr sz="1725" b="1">
                          <a:solidFill>
                            <a:srgbClr val="FFFFFF"/>
                          </a:solidFill>
                        </a:rPr>
                        <a:t>Measure</a:t>
                      </a:r>
                    </a:p>
                  </a:txBody>
                  <a:tcPr marL="91440" marR="91440" marT="45720" marB="45720">
                    <a:solidFill>
                      <a:srgbClr val="17384C"/>
                    </a:solidFill>
                  </a:tcPr>
                </a:tc>
              </a:tr>
              <a:tr h="762000">
                <a:tc>
                  <a:txBody>
                    <a:bodyPr/>
                    <a:lstStyle/>
                    <a:p>
                      <a:r>
                        <a:rPr sz="1725" b="0">
                          <a:solidFill>
                            <a:srgbClr val="17384C"/>
                          </a:solidFill>
                        </a:rPr>
                        <a:t>Predict a rating</a:t>
                      </a:r>
                    </a:p>
                  </a:txBody>
                  <a:tcPr marL="91440" marR="91440" marT="45720" marB="45720">
                    <a:solidFill>
                      <a:srgbClr val="EDF3F5"/>
                    </a:solidFill>
                  </a:tcPr>
                </a:tc>
                <a:tc>
                  <a:txBody>
                    <a:bodyPr/>
                    <a:lstStyle/>
                    <a:p>
                      <a:r>
                        <a:rPr sz="1725" b="0">
                          <a:solidFill>
                            <a:srgbClr val="17384C"/>
                          </a:solidFill>
                        </a:rPr>
                        <a:t>How many stars?</a:t>
                      </a:r>
                    </a:p>
                  </a:txBody>
                  <a:tcPr marL="91440" marR="91440" marT="45720" marB="45720">
                    <a:solidFill>
                      <a:srgbClr val="EDF3F5"/>
                    </a:solidFill>
                  </a:tcPr>
                </a:tc>
                <a:tc>
                  <a:txBody>
                    <a:bodyPr/>
                    <a:lstStyle/>
                    <a:p>
                      <a:r>
                        <a:rPr sz="1725" b="0">
                          <a:solidFill>
                            <a:srgbClr val="17384C"/>
                          </a:solidFill>
                        </a:rPr>
                        <a:t>RMSE</a:t>
                      </a:r>
                    </a:p>
                  </a:txBody>
                  <a:tcPr marL="91440" marR="91440" marT="45720" marB="45720">
                    <a:solidFill>
                      <a:srgbClr val="EDF3F5"/>
                    </a:solidFill>
                  </a:tcPr>
                </a:tc>
              </a:tr>
              <a:tr h="762000">
                <a:tc>
                  <a:txBody>
                    <a:bodyPr/>
                    <a:lstStyle/>
                    <a:p>
                      <a:r>
                        <a:rPr sz="1725" b="0">
                          <a:solidFill>
                            <a:srgbClr val="17384C"/>
                          </a:solidFill>
                        </a:rPr>
                        <a:t>Rank unseen films</a:t>
                      </a:r>
                    </a:p>
                  </a:txBody>
                  <a:tcPr marL="91440" marR="91440" marT="45720" marB="45720">
                    <a:solidFill>
                      <a:srgbClr val="FFFFFF"/>
                    </a:solidFill>
                  </a:tcPr>
                </a:tc>
                <a:tc>
                  <a:txBody>
                    <a:bodyPr/>
                    <a:lstStyle/>
                    <a:p>
                      <a:r>
                        <a:rPr sz="1725" b="0">
                          <a:solidFill>
                            <a:srgbClr val="17384C"/>
                          </a:solidFill>
                        </a:rPr>
                        <a:t>Which films appear first?</a:t>
                      </a:r>
                    </a:p>
                  </a:txBody>
                  <a:tcPr marL="91440" marR="91440" marT="45720" marB="45720">
                    <a:solidFill>
                      <a:srgbClr val="FFFFFF"/>
                    </a:solidFill>
                  </a:tcPr>
                </a:tc>
                <a:tc>
                  <a:txBody>
                    <a:bodyPr/>
                    <a:lstStyle/>
                    <a:p>
                      <a:r>
                        <a:rPr sz="1725" b="0">
                          <a:solidFill>
                            <a:srgbClr val="17384C"/>
                          </a:solidFill>
                        </a:rPr>
                        <a:t>NDCG@10</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475780F-EBE0-4D7D-975B-66E298070F45}"/>
              </a:ext>
            </a:extLst>
          </p:cNvPr>
          <p:cNvSpPr>
            <a:spLocks xmlns:a="http://schemas.openxmlformats.org/drawingml/2006/main" noGrp="1"/>
          </p:cNvSpPr>
          <p:nvPr/>
        </p:nvSpPr>
        <p:spPr>
          <a:xfrm xmlns:a="http://schemas.openxmlformats.org/drawingml/2006/main">
            <a:off x="685800" y="5238750"/>
            <a:ext cx="1038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47D86"/>
                </a:solidFill>
              </a:defRPr>
            </a:defPPr>
            <a:lvl1pPr>
              <a:defRPr sz="2250" b="1">
                <a:solidFill>
                  <a:srgbClr val="147D86"/>
                </a:solidFill>
              </a:defRPr>
            </a:lvl1pPr>
            <a:lvl2pPr>
              <a:defRPr sz="2250" b="1">
                <a:solidFill>
                  <a:srgbClr val="147D86"/>
                </a:solidFill>
              </a:defRPr>
            </a:lvl2pPr>
            <a:lvl3pPr>
              <a:defRPr sz="2250" b="1">
                <a:solidFill>
                  <a:srgbClr val="147D86"/>
                </a:solidFill>
              </a:defRPr>
            </a:lvl3pPr>
            <a:lvl4pPr>
              <a:defRPr sz="2250" b="1">
                <a:solidFill>
                  <a:srgbClr val="147D86"/>
                </a:solidFill>
              </a:defRPr>
            </a:lvl4pPr>
            <a:lvl5pPr>
              <a:defRPr sz="2250" b="1">
                <a:solidFill>
                  <a:srgbClr val="147D86"/>
                </a:solidFill>
              </a:defRPr>
            </a:lvl5pPr>
            <a:lvl6pPr>
              <a:defRPr sz="2250" b="1">
                <a:solidFill>
                  <a:srgbClr val="147D86"/>
                </a:solidFill>
              </a:defRPr>
            </a:lvl6pPr>
            <a:lvl7pPr>
              <a:defRPr sz="2250" b="1">
                <a:solidFill>
                  <a:srgbClr val="147D86"/>
                </a:solidFill>
              </a:defRPr>
            </a:lvl7pPr>
            <a:lvl8pPr>
              <a:defRPr sz="2250" b="1">
                <a:solidFill>
                  <a:srgbClr val="147D86"/>
                </a:solidFill>
              </a:defRPr>
            </a:lvl8pPr>
            <a:lvl9pPr>
              <a:defRPr sz="2250" b="1">
                <a:solidFill>
                  <a:srgbClr val="147D86"/>
                </a:solidFill>
              </a:defRPr>
            </a:lvl9pPr>
          </a:lstStyle>
          <a:p xmlns:a="http://schemas.openxmlformats.org/drawingml/2006/main">
            <a:pPr>
              <a:defRPr sz="2250" b="1">
                <a:solidFill>
                  <a:srgbClr val="147D86"/>
                </a:solidFill>
              </a:defRPr>
            </a:pPr>
            <a:r>
              <a:rPr sz="2250" b="1">
                <a:solidFill>
                  <a:srgbClr val="147D86"/>
                </a:solidFill>
              </a:rPr>
              <a:t>Same data and evaluation examples for both models</a:t>
            </a:r>
          </a:p>
        </p:txBody>
      </p:sp>
    </p:spTree>
    <p:extLst>
      <p:ext uri="{BB962C8B-B14F-4D97-AF65-F5344CB8AC3E}">
        <p14:creationId xmlns:p14="http://schemas.microsoft.com/office/powerpoint/2010/main" val="2104762166"/>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1F683A-2F30-4475-973F-A86F834897FA}"/>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35867E52-531C-480F-9126-3B6BE2D57020}"/>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Dataset selection</a:t>
            </a:r>
          </a:p>
        </p:txBody>
      </p:sp>
      <p:sp>
        <p:nvSpPr>
          <p:cNvPr id="4" name="">
            <a:extLst xmlns:a="http://schemas.openxmlformats.org/drawingml/2006/main">
              <a:ext uri="{FF2B5EF4-FFF2-40B4-BE49-F238E27FC236}">
                <a16:creationId xmlns:a16="http://schemas.microsoft.com/office/drawing/2014/main" id="{45A66735-FBB0-4C9E-A415-F3E0F515B751}"/>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GroupLens Research (1998); Harper and Konstan (2015)</a:t>
            </a:r>
          </a:p>
        </p:txBody>
      </p:sp>
      <p:sp>
        <p:nvSpPr>
          <p:cNvPr id="5" name="">
            <a:extLst xmlns:a="http://schemas.openxmlformats.org/drawingml/2006/main">
              <a:ext uri="{FF2B5EF4-FFF2-40B4-BE49-F238E27FC236}">
                <a16:creationId xmlns:a16="http://schemas.microsoft.com/office/drawing/2014/main" id="{33C43F13-9716-4B74-B9EB-4CBDE57B8960}"/>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03</a:t>
            </a:r>
          </a:p>
        </p:txBody>
      </p:sp>
      <p:graphicFrame>
        <p:nvGraphicFramePr>
          <p:cNvPr id="6" name="">
            <a:extLst xmlns:a="http://schemas.openxmlformats.org/drawingml/2006/main">
              <a:ext uri="{FF2B5EF4-FFF2-40B4-BE49-F238E27FC236}">
                <a16:creationId xmlns:a16="http://schemas.microsoft.com/office/drawing/2014/main" id="{0DA5B53F-10ED-47E4-8904-D5CCFAECAAAF}"/>
              </a:ext>
            </a:extLst>
          </p:cNvPr>
          <p:cNvGraphicFramePr/>
          <p:nvPr/>
        </p:nvGraphicFramePr>
        <p:xfrm>
          <a:off xmlns:a="http://schemas.openxmlformats.org/drawingml/2006/main" x="609600" y="2095500"/>
          <a:ext xmlns:a="http://schemas.openxmlformats.org/drawingml/2006/main" cx="10934700" cy="1619250"/>
        </p:xfrm>
        <a:graphic xmlns:a="http://schemas.openxmlformats.org/drawingml/2006/main">
          <a:graphicData uri="http://schemas.openxmlformats.org/drawingml/2006/table">
            <a:tbl>
              <a:tblPr/>
              <a:tblGrid>
                <a:gridCol w="3644900"/>
                <a:gridCol w="3644900"/>
                <a:gridCol w="3644900"/>
              </a:tblGrid>
              <a:tr h="809625">
                <a:tc>
                  <a:txBody>
                    <a:bodyPr/>
                    <a:lstStyle/>
                    <a:p>
                      <a:r>
                        <a:rPr sz="1725" b="1">
                          <a:solidFill>
                            <a:srgbClr val="FFFFFF"/>
                          </a:solidFill>
                        </a:rPr>
                        <a:t>Ratings</a:t>
                      </a:r>
                    </a:p>
                  </a:txBody>
                  <a:tcPr marL="91440" marR="91440" marT="45720" marB="45720">
                    <a:solidFill>
                      <a:srgbClr val="17384C"/>
                    </a:solidFill>
                  </a:tcPr>
                </a:tc>
                <a:tc>
                  <a:txBody>
                    <a:bodyPr/>
                    <a:lstStyle/>
                    <a:p>
                      <a:r>
                        <a:rPr sz="1725" b="1">
                          <a:solidFill>
                            <a:srgbClr val="FFFFFF"/>
                          </a:solidFill>
                        </a:rPr>
                        <a:t>Users</a:t>
                      </a:r>
                    </a:p>
                  </a:txBody>
                  <a:tcPr marL="91440" marR="91440" marT="45720" marB="45720">
                    <a:solidFill>
                      <a:srgbClr val="17384C"/>
                    </a:solidFill>
                  </a:tcPr>
                </a:tc>
                <a:tc>
                  <a:txBody>
                    <a:bodyPr/>
                    <a:lstStyle/>
                    <a:p>
                      <a:r>
                        <a:rPr sz="1725" b="1">
                          <a:solidFill>
                            <a:srgbClr val="FFFFFF"/>
                          </a:solidFill>
                        </a:rPr>
                        <a:t>Films</a:t>
                      </a:r>
                    </a:p>
                  </a:txBody>
                  <a:tcPr marL="91440" marR="91440" marT="45720" marB="45720">
                    <a:solidFill>
                      <a:srgbClr val="17384C"/>
                    </a:solidFill>
                  </a:tcPr>
                </a:tc>
              </a:tr>
              <a:tr h="809625">
                <a:tc>
                  <a:txBody>
                    <a:bodyPr/>
                    <a:lstStyle/>
                    <a:p>
                      <a:r>
                        <a:rPr sz="1725" b="0">
                          <a:solidFill>
                            <a:srgbClr val="17384C"/>
                          </a:solidFill>
                        </a:rPr>
                        <a:t>100,000</a:t>
                      </a:r>
                    </a:p>
                  </a:txBody>
                  <a:tcPr marL="91440" marR="91440" marT="45720" marB="45720">
                    <a:solidFill>
                      <a:srgbClr val="EDF3F5"/>
                    </a:solidFill>
                  </a:tcPr>
                </a:tc>
                <a:tc>
                  <a:txBody>
                    <a:bodyPr/>
                    <a:lstStyle/>
                    <a:p>
                      <a:r>
                        <a:rPr sz="1725" b="0">
                          <a:solidFill>
                            <a:srgbClr val="17384C"/>
                          </a:solidFill>
                        </a:rPr>
                        <a:t>943</a:t>
                      </a:r>
                    </a:p>
                  </a:txBody>
                  <a:tcPr marL="91440" marR="91440" marT="45720" marB="45720">
                    <a:solidFill>
                      <a:srgbClr val="EDF3F5"/>
                    </a:solidFill>
                  </a:tcPr>
                </a:tc>
                <a:tc>
                  <a:txBody>
                    <a:bodyPr/>
                    <a:lstStyle/>
                    <a:p>
                      <a:r>
                        <a:rPr sz="1725" b="0">
                          <a:solidFill>
                            <a:srgbClr val="17384C"/>
                          </a:solidFill>
                        </a:rPr>
                        <a:t>1,682</a:t>
                      </a:r>
                    </a:p>
                  </a:txBody>
                  <a:tcPr marL="91440" marR="91440" marT="45720" marB="45720">
                    <a:solidFill>
                      <a:srgbClr val="EDF3F5"/>
                    </a:solidFill>
                  </a:tcPr>
                </a:tc>
              </a:tr>
            </a:tbl>
          </a:graphicData>
        </a:graphic>
      </p:graphicFrame>
      <p:sp>
        <p:nvSpPr>
          <p:cNvPr id="7" name="">
            <a:extLst xmlns:a="http://schemas.openxmlformats.org/drawingml/2006/main">
              <a:ext uri="{FF2B5EF4-FFF2-40B4-BE49-F238E27FC236}">
                <a16:creationId xmlns:a16="http://schemas.microsoft.com/office/drawing/2014/main" id="{0EE764F0-525D-4945-BF7D-6D0239A58750}"/>
              </a:ext>
            </a:extLst>
          </p:cNvPr>
          <p:cNvSpPr>
            <a:spLocks xmlns:a="http://schemas.openxmlformats.org/drawingml/2006/main" noGrp="1"/>
          </p:cNvSpPr>
          <p:nvPr/>
        </p:nvSpPr>
        <p:spPr>
          <a:xfrm xmlns:a="http://schemas.openxmlformats.org/drawingml/2006/main">
            <a:off x="685800" y="4143375"/>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84C"/>
                </a:solidFill>
              </a:defRPr>
            </a:defPPr>
            <a:lvl1pPr>
              <a:defRPr sz="2175" b="0">
                <a:solidFill>
                  <a:srgbClr val="17384C"/>
                </a:solidFill>
              </a:defRPr>
            </a:lvl1pPr>
            <a:lvl2pPr>
              <a:defRPr sz="2175" b="0">
                <a:solidFill>
                  <a:srgbClr val="17384C"/>
                </a:solidFill>
              </a:defRPr>
            </a:lvl2pPr>
            <a:lvl3pPr>
              <a:defRPr sz="2175" b="0">
                <a:solidFill>
                  <a:srgbClr val="17384C"/>
                </a:solidFill>
              </a:defRPr>
            </a:lvl3pPr>
            <a:lvl4pPr>
              <a:defRPr sz="2175" b="0">
                <a:solidFill>
                  <a:srgbClr val="17384C"/>
                </a:solidFill>
              </a:defRPr>
            </a:lvl4pPr>
            <a:lvl5pPr>
              <a:defRPr sz="2175" b="0">
                <a:solidFill>
                  <a:srgbClr val="17384C"/>
                </a:solidFill>
              </a:defRPr>
            </a:lvl5pPr>
            <a:lvl6pPr>
              <a:defRPr sz="2175" b="0">
                <a:solidFill>
                  <a:srgbClr val="17384C"/>
                </a:solidFill>
              </a:defRPr>
            </a:lvl6pPr>
            <a:lvl7pPr>
              <a:defRPr sz="2175" b="0">
                <a:solidFill>
                  <a:srgbClr val="17384C"/>
                </a:solidFill>
              </a:defRPr>
            </a:lvl7pPr>
            <a:lvl8pPr>
              <a:defRPr sz="2175" b="0">
                <a:solidFill>
                  <a:srgbClr val="17384C"/>
                </a:solidFill>
              </a:defRPr>
            </a:lvl8pPr>
            <a:lvl9pPr>
              <a:defRPr sz="2175" b="0">
                <a:solidFill>
                  <a:srgbClr val="17384C"/>
                </a:solidFill>
              </a:defRPr>
            </a:lvl9pPr>
          </a:lstStyle>
          <a:p xmlns:a="http://schemas.openxmlformats.org/drawingml/2006/main">
            <a:pPr>
              <a:defRPr sz="2175" b="0">
                <a:solidFill>
                  <a:srgbClr val="17384C"/>
                </a:solidFill>
              </a:defRPr>
            </a:pPr>
            <a:r>
              <a:rPr sz="2175" b="0">
                <a:solidFill>
                  <a:srgbClr val="17384C"/>
                </a:solidFill>
              </a:rPr>
              <a:t>Explicit ratings from 1 to 5</a:t>
            </a:r>
          </a:p>
        </p:txBody>
      </p:sp>
      <p:sp>
        <p:nvSpPr>
          <p:cNvPr id="8" name="">
            <a:extLst xmlns:a="http://schemas.openxmlformats.org/drawingml/2006/main">
              <a:ext uri="{FF2B5EF4-FFF2-40B4-BE49-F238E27FC236}">
                <a16:creationId xmlns:a16="http://schemas.microsoft.com/office/drawing/2014/main" id="{C8CFE59E-1E2A-4B27-ADB2-6D9747DC9B51}"/>
              </a:ext>
            </a:extLst>
          </p:cNvPr>
          <p:cNvSpPr>
            <a:spLocks xmlns:a="http://schemas.openxmlformats.org/drawingml/2006/main" noGrp="1"/>
          </p:cNvSpPr>
          <p:nvPr/>
        </p:nvSpPr>
        <p:spPr>
          <a:xfrm xmlns:a="http://schemas.openxmlformats.org/drawingml/2006/main">
            <a:off x="685800" y="4924425"/>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84C"/>
                </a:solidFill>
              </a:defRPr>
            </a:defPPr>
            <a:lvl1pPr>
              <a:defRPr sz="2175" b="0">
                <a:solidFill>
                  <a:srgbClr val="17384C"/>
                </a:solidFill>
              </a:defRPr>
            </a:lvl1pPr>
            <a:lvl2pPr>
              <a:defRPr sz="2175" b="0">
                <a:solidFill>
                  <a:srgbClr val="17384C"/>
                </a:solidFill>
              </a:defRPr>
            </a:lvl2pPr>
            <a:lvl3pPr>
              <a:defRPr sz="2175" b="0">
                <a:solidFill>
                  <a:srgbClr val="17384C"/>
                </a:solidFill>
              </a:defRPr>
            </a:lvl3pPr>
            <a:lvl4pPr>
              <a:defRPr sz="2175" b="0">
                <a:solidFill>
                  <a:srgbClr val="17384C"/>
                </a:solidFill>
              </a:defRPr>
            </a:lvl4pPr>
            <a:lvl5pPr>
              <a:defRPr sz="2175" b="0">
                <a:solidFill>
                  <a:srgbClr val="17384C"/>
                </a:solidFill>
              </a:defRPr>
            </a:lvl5pPr>
            <a:lvl6pPr>
              <a:defRPr sz="2175" b="0">
                <a:solidFill>
                  <a:srgbClr val="17384C"/>
                </a:solidFill>
              </a:defRPr>
            </a:lvl6pPr>
            <a:lvl7pPr>
              <a:defRPr sz="2175" b="0">
                <a:solidFill>
                  <a:srgbClr val="17384C"/>
                </a:solidFill>
              </a:defRPr>
            </a:lvl7pPr>
            <a:lvl8pPr>
              <a:defRPr sz="2175" b="0">
                <a:solidFill>
                  <a:srgbClr val="17384C"/>
                </a:solidFill>
              </a:defRPr>
            </a:lvl8pPr>
            <a:lvl9pPr>
              <a:defRPr sz="2175" b="0">
                <a:solidFill>
                  <a:srgbClr val="17384C"/>
                </a:solidFill>
              </a:defRPr>
            </a:lvl9pPr>
          </a:lstStyle>
          <a:p xmlns:a="http://schemas.openxmlformats.org/drawingml/2006/main">
            <a:pPr>
              <a:defRPr sz="2175" b="0">
                <a:solidFill>
                  <a:srgbClr val="17384C"/>
                </a:solidFill>
              </a:defRPr>
            </a:pPr>
            <a:r>
              <a:rPr sz="2175" b="0">
                <a:solidFill>
                  <a:srgbClr val="17384C"/>
                </a:solidFill>
              </a:rPr>
              <a:t>Historical benchmark with at least 20 ratings per user</a:t>
            </a:r>
          </a:p>
        </p:txBody>
      </p:sp>
      <p:sp>
        <p:nvSpPr>
          <p:cNvPr id="9" name="">
            <a:extLst xmlns:a="http://schemas.openxmlformats.org/drawingml/2006/main">
              <a:ext uri="{FF2B5EF4-FFF2-40B4-BE49-F238E27FC236}">
                <a16:creationId xmlns:a16="http://schemas.microsoft.com/office/drawing/2014/main" id="{2294BA13-E14B-4A35-BF4D-C0F967249F0C}"/>
              </a:ext>
            </a:extLst>
          </p:cNvPr>
          <p:cNvSpPr>
            <a:spLocks xmlns:a="http://schemas.openxmlformats.org/drawingml/2006/main" noGrp="1"/>
          </p:cNvSpPr>
          <p:nvPr/>
        </p:nvSpPr>
        <p:spPr>
          <a:xfrm xmlns:a="http://schemas.openxmlformats.org/drawingml/2006/main">
            <a:off x="685800" y="5705475"/>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84C"/>
                </a:solidFill>
              </a:defRPr>
            </a:defPPr>
            <a:lvl1pPr>
              <a:defRPr sz="2175" b="0">
                <a:solidFill>
                  <a:srgbClr val="17384C"/>
                </a:solidFill>
              </a:defRPr>
            </a:lvl1pPr>
            <a:lvl2pPr>
              <a:defRPr sz="2175" b="0">
                <a:solidFill>
                  <a:srgbClr val="17384C"/>
                </a:solidFill>
              </a:defRPr>
            </a:lvl2pPr>
            <a:lvl3pPr>
              <a:defRPr sz="2175" b="0">
                <a:solidFill>
                  <a:srgbClr val="17384C"/>
                </a:solidFill>
              </a:defRPr>
            </a:lvl3pPr>
            <a:lvl4pPr>
              <a:defRPr sz="2175" b="0">
                <a:solidFill>
                  <a:srgbClr val="17384C"/>
                </a:solidFill>
              </a:defRPr>
            </a:lvl4pPr>
            <a:lvl5pPr>
              <a:defRPr sz="2175" b="0">
                <a:solidFill>
                  <a:srgbClr val="17384C"/>
                </a:solidFill>
              </a:defRPr>
            </a:lvl5pPr>
            <a:lvl6pPr>
              <a:defRPr sz="2175" b="0">
                <a:solidFill>
                  <a:srgbClr val="17384C"/>
                </a:solidFill>
              </a:defRPr>
            </a:lvl6pPr>
            <a:lvl7pPr>
              <a:defRPr sz="2175" b="0">
                <a:solidFill>
                  <a:srgbClr val="17384C"/>
                </a:solidFill>
              </a:defRPr>
            </a:lvl7pPr>
            <a:lvl8pPr>
              <a:defRPr sz="2175" b="0">
                <a:solidFill>
                  <a:srgbClr val="17384C"/>
                </a:solidFill>
              </a:defRPr>
            </a:lvl8pPr>
            <a:lvl9pPr>
              <a:defRPr sz="2175" b="0">
                <a:solidFill>
                  <a:srgbClr val="17384C"/>
                </a:solidFill>
              </a:defRPr>
            </a:lvl9pPr>
          </a:lstStyle>
          <a:p xmlns:a="http://schemas.openxmlformats.org/drawingml/2006/main">
            <a:pPr>
              <a:defRPr sz="2175" b="0">
                <a:solidFill>
                  <a:srgbClr val="17384C"/>
                </a:solidFill>
              </a:defRPr>
            </a:pPr>
            <a:r>
              <a:rPr sz="2175" b="0">
                <a:solidFill>
                  <a:srgbClr val="17384C"/>
                </a:solidFill>
              </a:rPr>
              <a:t>Missing ratings indicate unknown preference</a:t>
            </a:r>
          </a:p>
        </p:txBody>
      </p:sp>
    </p:spTree>
    <p:extLst>
      <p:ext uri="{BB962C8B-B14F-4D97-AF65-F5344CB8AC3E}">
        <p14:creationId xmlns:p14="http://schemas.microsoft.com/office/powerpoint/2010/main" val="1927286941"/>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58CC303-5D52-4917-B3BE-766C54B8BBED}"/>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C04ED5A2-F8C7-4E38-85CA-F77815B85B22}"/>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Preprocessing and tools</a:t>
            </a:r>
          </a:p>
        </p:txBody>
      </p:sp>
      <p:sp>
        <p:nvSpPr>
          <p:cNvPr id="4" name="">
            <a:extLst xmlns:a="http://schemas.openxmlformats.org/drawingml/2006/main">
              <a:ext uri="{FF2B5EF4-FFF2-40B4-BE49-F238E27FC236}">
                <a16:creationId xmlns:a16="http://schemas.microsoft.com/office/drawing/2014/main" id="{A3CAACB1-8424-4646-8E12-E5DE77414932}"/>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2D7C6F22-E6AC-404F-853C-C796D7DC2ADD}"/>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04</a:t>
            </a:r>
          </a:p>
        </p:txBody>
      </p:sp>
      <p:sp>
        <p:nvSpPr>
          <p:cNvPr id="6" name="">
            <a:extLst xmlns:a="http://schemas.openxmlformats.org/drawingml/2006/main">
              <a:ext uri="{FF2B5EF4-FFF2-40B4-BE49-F238E27FC236}">
                <a16:creationId xmlns:a16="http://schemas.microsoft.com/office/drawing/2014/main" id="{CF7F78F2-61B3-4140-8029-F2A20BD3ACEC}"/>
              </a:ext>
            </a:extLst>
          </p:cNvPr>
          <p:cNvSpPr>
            <a:spLocks xmlns:a="http://schemas.openxmlformats.org/drawingml/2006/main" noGrp="1"/>
          </p:cNvSpPr>
          <p:nvPr/>
        </p:nvSpPr>
        <p:spPr>
          <a:xfrm xmlns:a="http://schemas.openxmlformats.org/drawingml/2006/main">
            <a:off x="609600" y="2476500"/>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Audit core fields</a:t>
            </a:r>
          </a:p>
        </p:txBody>
      </p:sp>
      <p:sp>
        <p:nvSpPr>
          <p:cNvPr id="7" name="">
            <a:extLst xmlns:a="http://schemas.openxmlformats.org/drawingml/2006/main">
              <a:ext uri="{FF2B5EF4-FFF2-40B4-BE49-F238E27FC236}">
                <a16:creationId xmlns:a16="http://schemas.microsoft.com/office/drawing/2014/main" id="{7DA1CBA6-64DB-4CD0-86BD-9E90AF59732A}"/>
              </a:ext>
            </a:extLst>
          </p:cNvPr>
          <p:cNvSpPr>
            <a:spLocks xmlns:a="http://schemas.openxmlformats.org/drawingml/2006/main" noGrp="1"/>
          </p:cNvSpPr>
          <p:nvPr/>
        </p:nvSpPr>
        <p:spPr>
          <a:xfrm xmlns:a="http://schemas.openxmlformats.org/drawingml/2006/main">
            <a:off x="3105150" y="2733675"/>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8" name="">
            <a:extLst xmlns:a="http://schemas.openxmlformats.org/drawingml/2006/main">
              <a:ext uri="{FF2B5EF4-FFF2-40B4-BE49-F238E27FC236}">
                <a16:creationId xmlns:a16="http://schemas.microsoft.com/office/drawing/2014/main" id="{E259081D-EE99-4377-858D-548D3462D19B}"/>
              </a:ext>
            </a:extLst>
          </p:cNvPr>
          <p:cNvSpPr>
            <a:spLocks xmlns:a="http://schemas.openxmlformats.org/drawingml/2006/main" noGrp="1"/>
          </p:cNvSpPr>
          <p:nvPr/>
        </p:nvSpPr>
        <p:spPr>
          <a:xfrm xmlns:a="http://schemas.openxmlformats.org/drawingml/2006/main">
            <a:off x="3343275" y="2476500"/>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Map identifiers</a:t>
            </a:r>
          </a:p>
        </p:txBody>
      </p:sp>
      <p:sp>
        <p:nvSpPr>
          <p:cNvPr id="9" name="">
            <a:extLst xmlns:a="http://schemas.openxmlformats.org/drawingml/2006/main">
              <a:ext uri="{FF2B5EF4-FFF2-40B4-BE49-F238E27FC236}">
                <a16:creationId xmlns:a16="http://schemas.microsoft.com/office/drawing/2014/main" id="{C14E9427-DFC0-4DC0-860B-396D012B58C5}"/>
              </a:ext>
            </a:extLst>
          </p:cNvPr>
          <p:cNvSpPr>
            <a:spLocks xmlns:a="http://schemas.openxmlformats.org/drawingml/2006/main" noGrp="1"/>
          </p:cNvSpPr>
          <p:nvPr/>
        </p:nvSpPr>
        <p:spPr>
          <a:xfrm xmlns:a="http://schemas.openxmlformats.org/drawingml/2006/main">
            <a:off x="5838825" y="2733675"/>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10" name="">
            <a:extLst xmlns:a="http://schemas.openxmlformats.org/drawingml/2006/main">
              <a:ext uri="{FF2B5EF4-FFF2-40B4-BE49-F238E27FC236}">
                <a16:creationId xmlns:a16="http://schemas.microsoft.com/office/drawing/2014/main" id="{2229F635-C972-4710-9F6F-089865DF43D1}"/>
              </a:ext>
            </a:extLst>
          </p:cNvPr>
          <p:cNvSpPr>
            <a:spLocks xmlns:a="http://schemas.openxmlformats.org/drawingml/2006/main" noGrp="1"/>
          </p:cNvSpPr>
          <p:nvPr/>
        </p:nvSpPr>
        <p:spPr>
          <a:xfrm xmlns:a="http://schemas.openxmlformats.org/drawingml/2006/main">
            <a:off x="6076950" y="2476500"/>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Split by user</a:t>
            </a:r>
          </a:p>
        </p:txBody>
      </p:sp>
      <p:sp>
        <p:nvSpPr>
          <p:cNvPr id="11" name="">
            <a:extLst xmlns:a="http://schemas.openxmlformats.org/drawingml/2006/main">
              <a:ext uri="{FF2B5EF4-FFF2-40B4-BE49-F238E27FC236}">
                <a16:creationId xmlns:a16="http://schemas.microsoft.com/office/drawing/2014/main" id="{902C900F-DC84-48D7-B8CB-D67E9D42D087}"/>
              </a:ext>
            </a:extLst>
          </p:cNvPr>
          <p:cNvSpPr>
            <a:spLocks xmlns:a="http://schemas.openxmlformats.org/drawingml/2006/main" noGrp="1"/>
          </p:cNvSpPr>
          <p:nvPr/>
        </p:nvSpPr>
        <p:spPr>
          <a:xfrm xmlns:a="http://schemas.openxmlformats.org/drawingml/2006/main">
            <a:off x="8572500" y="2733675"/>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12" name="">
            <a:extLst xmlns:a="http://schemas.openxmlformats.org/drawingml/2006/main">
              <a:ext uri="{FF2B5EF4-FFF2-40B4-BE49-F238E27FC236}">
                <a16:creationId xmlns:a16="http://schemas.microsoft.com/office/drawing/2014/main" id="{141EA33F-0575-468A-9213-D265F8614780}"/>
              </a:ext>
            </a:extLst>
          </p:cNvPr>
          <p:cNvSpPr>
            <a:spLocks xmlns:a="http://schemas.openxmlformats.org/drawingml/2006/main" noGrp="1"/>
          </p:cNvSpPr>
          <p:nvPr/>
        </p:nvSpPr>
        <p:spPr>
          <a:xfrm xmlns:a="http://schemas.openxmlformats.org/drawingml/2006/main">
            <a:off x="8810625" y="2476500"/>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Train both models</a:t>
            </a:r>
          </a:p>
        </p:txBody>
      </p:sp>
      <p:graphicFrame>
        <p:nvGraphicFramePr>
          <p:cNvPr id="13" name="">
            <a:extLst xmlns:a="http://schemas.openxmlformats.org/drawingml/2006/main">
              <a:ext uri="{FF2B5EF4-FFF2-40B4-BE49-F238E27FC236}">
                <a16:creationId xmlns:a16="http://schemas.microsoft.com/office/drawing/2014/main" id="{4CC081FF-BC31-4CAA-AEE0-AD8449B9F292}"/>
              </a:ext>
            </a:extLst>
          </p:cNvPr>
          <p:cNvGraphicFramePr/>
          <p:nvPr/>
        </p:nvGraphicFramePr>
        <p:xfrm>
          <a:off xmlns:a="http://schemas.openxmlformats.org/drawingml/2006/main" x="609600" y="4238625"/>
          <a:ext xmlns:a="http://schemas.openxmlformats.org/drawingml/2006/main" cx="10934700" cy="1333500"/>
        </p:xfrm>
        <a:graphic xmlns:a="http://schemas.openxmlformats.org/drawingml/2006/main">
          <a:graphicData uri="http://schemas.openxmlformats.org/drawingml/2006/table">
            <a:tbl>
              <a:tblPr/>
              <a:tblGrid>
                <a:gridCol w="3644900"/>
                <a:gridCol w="3644900"/>
                <a:gridCol w="3644900"/>
              </a:tblGrid>
              <a:tr h="666750">
                <a:tc>
                  <a:txBody>
                    <a:bodyPr/>
                    <a:lstStyle/>
                    <a:p>
                      <a:r>
                        <a:rPr sz="1725" b="1">
                          <a:solidFill>
                            <a:srgbClr val="FFFFFF"/>
                          </a:solidFill>
                        </a:rPr>
                        <a:t>NumPy / pandas</a:t>
                      </a:r>
                    </a:p>
                  </a:txBody>
                  <a:tcPr marL="91440" marR="91440" marT="45720" marB="45720">
                    <a:solidFill>
                      <a:srgbClr val="17384C"/>
                    </a:solidFill>
                  </a:tcPr>
                </a:tc>
                <a:tc>
                  <a:txBody>
                    <a:bodyPr/>
                    <a:lstStyle/>
                    <a:p>
                      <a:r>
                        <a:rPr sz="1725" b="1">
                          <a:solidFill>
                            <a:srgbClr val="FFFFFF"/>
                          </a:solidFill>
                        </a:rPr>
                        <a:t>PyTorch</a:t>
                      </a:r>
                    </a:p>
                  </a:txBody>
                  <a:tcPr marL="91440" marR="91440" marT="45720" marB="45720">
                    <a:solidFill>
                      <a:srgbClr val="17384C"/>
                    </a:solidFill>
                  </a:tcPr>
                </a:tc>
                <a:tc>
                  <a:txBody>
                    <a:bodyPr/>
                    <a:lstStyle/>
                    <a:p>
                      <a:r>
                        <a:rPr sz="1725" b="1">
                          <a:solidFill>
                            <a:srgbClr val="FFFFFF"/>
                          </a:solidFill>
                        </a:rPr>
                        <a:t>scikit-learn</a:t>
                      </a:r>
                    </a:p>
                  </a:txBody>
                  <a:tcPr marL="91440" marR="91440" marT="45720" marB="45720">
                    <a:solidFill>
                      <a:srgbClr val="17384C"/>
                    </a:solidFill>
                  </a:tcPr>
                </a:tc>
              </a:tr>
              <a:tr h="666750">
                <a:tc>
                  <a:txBody>
                    <a:bodyPr/>
                    <a:lstStyle/>
                    <a:p>
                      <a:r>
                        <a:rPr sz="1725" b="0">
                          <a:solidFill>
                            <a:srgbClr val="17384C"/>
                          </a:solidFill>
                        </a:rPr>
                        <a:t>Classical model and data</a:t>
                      </a:r>
                    </a:p>
                  </a:txBody>
                  <a:tcPr marL="91440" marR="91440" marT="45720" marB="45720">
                    <a:solidFill>
                      <a:srgbClr val="EDF3F5"/>
                    </a:solidFill>
                  </a:tcPr>
                </a:tc>
                <a:tc>
                  <a:txBody>
                    <a:bodyPr/>
                    <a:lstStyle/>
                    <a:p>
                      <a:r>
                        <a:rPr sz="1725" b="0">
                          <a:solidFill>
                            <a:srgbClr val="17384C"/>
                          </a:solidFill>
                        </a:rPr>
                        <a:t>Neural model</a:t>
                      </a:r>
                    </a:p>
                  </a:txBody>
                  <a:tcPr marL="91440" marR="91440" marT="45720" marB="45720">
                    <a:solidFill>
                      <a:srgbClr val="EDF3F5"/>
                    </a:solidFill>
                  </a:tcPr>
                </a:tc>
                <a:tc>
                  <a:txBody>
                    <a:bodyPr/>
                    <a:lstStyle/>
                    <a:p>
                      <a:r>
                        <a:rPr sz="1725" b="0">
                          <a:solidFill>
                            <a:srgbClr val="17384C"/>
                          </a:solidFill>
                        </a:rPr>
                        <a:t>Metrics and folds</a:t>
                      </a:r>
                    </a:p>
                  </a:txBody>
                  <a:tcPr marL="91440" marR="91440" marT="45720" marB="45720">
                    <a:solidFill>
                      <a:srgbClr val="EDF3F5"/>
                    </a:solidFill>
                  </a:tcPr>
                </a:tc>
              </a:tr>
            </a:tbl>
          </a:graphicData>
        </a:graphic>
      </p:graphicFrame>
    </p:spTree>
    <p:extLst>
      <p:ext uri="{BB962C8B-B14F-4D97-AF65-F5344CB8AC3E}">
        <p14:creationId xmlns:p14="http://schemas.microsoft.com/office/powerpoint/2010/main" val="489734949"/>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45942DC-BDEF-4AFB-83E6-C59E7B059A9D}"/>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114BDB90-1DE0-499A-B7C2-A4D266DDEAFF}"/>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Validation and leakage</a:t>
            </a:r>
          </a:p>
        </p:txBody>
      </p:sp>
      <p:sp>
        <p:nvSpPr>
          <p:cNvPr id="4" name="">
            <a:extLst xmlns:a="http://schemas.openxmlformats.org/drawingml/2006/main">
              <a:ext uri="{FF2B5EF4-FFF2-40B4-BE49-F238E27FC236}">
                <a16:creationId xmlns:a16="http://schemas.microsoft.com/office/drawing/2014/main" id="{4568E086-F9BF-433D-9CB6-606A295964F3}"/>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564FCEFF-27A8-467E-A722-9C6E5AF36B76}"/>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05</a:t>
            </a:r>
          </a:p>
        </p:txBody>
      </p:sp>
      <p:sp>
        <p:nvSpPr>
          <p:cNvPr id="6" name="">
            <a:extLst xmlns:a="http://schemas.openxmlformats.org/drawingml/2006/main">
              <a:ext uri="{FF2B5EF4-FFF2-40B4-BE49-F238E27FC236}">
                <a16:creationId xmlns:a16="http://schemas.microsoft.com/office/drawing/2014/main" id="{9FEBA4A9-049B-460F-A6DA-BAC444AD4083}"/>
              </a:ext>
            </a:extLst>
          </p:cNvPr>
          <p:cNvSpPr>
            <a:spLocks xmlns:a="http://schemas.openxmlformats.org/drawingml/2006/main" noGrp="1"/>
          </p:cNvSpPr>
          <p:nvPr/>
        </p:nvSpPr>
        <p:spPr>
          <a:xfrm xmlns:a="http://schemas.openxmlformats.org/drawingml/2006/main">
            <a:off x="609600" y="2381250"/>
            <a:ext cx="3397250"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Earlier ratings</a:t>
            </a:r>
          </a:p>
          <a:p xmlns:a="http://schemas.openxmlformats.org/drawingml/2006/main">
            <a:pPr>
              <a:defRPr sz="1875" b="1">
                <a:solidFill>
                  <a:srgbClr val="17384C"/>
                </a:solidFill>
              </a:defRPr>
            </a:pPr>
            <a:r>
              <a:rPr sz="1875" b="1">
                <a:solidFill>
                  <a:srgbClr val="17384C"/>
                </a:solidFill>
              </a:rPr>
              <a:t>Training</a:t>
            </a:r>
          </a:p>
        </p:txBody>
      </p:sp>
      <p:sp>
        <p:nvSpPr>
          <p:cNvPr id="7" name="">
            <a:extLst xmlns:a="http://schemas.openxmlformats.org/drawingml/2006/main">
              <a:ext uri="{FF2B5EF4-FFF2-40B4-BE49-F238E27FC236}">
                <a16:creationId xmlns:a16="http://schemas.microsoft.com/office/drawing/2014/main" id="{BF345544-E705-48C8-BA1A-09BF52047562}"/>
              </a:ext>
            </a:extLst>
          </p:cNvPr>
          <p:cNvSpPr>
            <a:spLocks xmlns:a="http://schemas.openxmlformats.org/drawingml/2006/main" noGrp="1"/>
          </p:cNvSpPr>
          <p:nvPr/>
        </p:nvSpPr>
        <p:spPr>
          <a:xfrm xmlns:a="http://schemas.openxmlformats.org/drawingml/2006/main">
            <a:off x="4016375" y="2638425"/>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8" name="">
            <a:extLst xmlns:a="http://schemas.openxmlformats.org/drawingml/2006/main">
              <a:ext uri="{FF2B5EF4-FFF2-40B4-BE49-F238E27FC236}">
                <a16:creationId xmlns:a16="http://schemas.microsoft.com/office/drawing/2014/main" id="{8DB1FC46-4335-4130-B02F-F484D3722CED}"/>
              </a:ext>
            </a:extLst>
          </p:cNvPr>
          <p:cNvSpPr>
            <a:spLocks xmlns:a="http://schemas.openxmlformats.org/drawingml/2006/main" noGrp="1"/>
          </p:cNvSpPr>
          <p:nvPr/>
        </p:nvSpPr>
        <p:spPr>
          <a:xfrm xmlns:a="http://schemas.openxmlformats.org/drawingml/2006/main">
            <a:off x="4254500" y="2381250"/>
            <a:ext cx="3397250"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Second latest</a:t>
            </a:r>
          </a:p>
          <a:p xmlns:a="http://schemas.openxmlformats.org/drawingml/2006/main">
            <a:pPr>
              <a:defRPr sz="1875" b="1">
                <a:solidFill>
                  <a:srgbClr val="17384C"/>
                </a:solidFill>
              </a:defRPr>
            </a:pPr>
            <a:r>
              <a:rPr sz="1875" b="1">
                <a:solidFill>
                  <a:srgbClr val="17384C"/>
                </a:solidFill>
              </a:rPr>
              <a:t>Validation</a:t>
            </a:r>
          </a:p>
        </p:txBody>
      </p:sp>
      <p:sp>
        <p:nvSpPr>
          <p:cNvPr id="9" name="">
            <a:extLst xmlns:a="http://schemas.openxmlformats.org/drawingml/2006/main">
              <a:ext uri="{FF2B5EF4-FFF2-40B4-BE49-F238E27FC236}">
                <a16:creationId xmlns:a16="http://schemas.microsoft.com/office/drawing/2014/main" id="{7ADF5B9D-207B-457C-B857-18FD8B3A3E5C}"/>
              </a:ext>
            </a:extLst>
          </p:cNvPr>
          <p:cNvSpPr>
            <a:spLocks xmlns:a="http://schemas.openxmlformats.org/drawingml/2006/main" noGrp="1"/>
          </p:cNvSpPr>
          <p:nvPr/>
        </p:nvSpPr>
        <p:spPr>
          <a:xfrm xmlns:a="http://schemas.openxmlformats.org/drawingml/2006/main">
            <a:off x="7661275" y="2638425"/>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10" name="">
            <a:extLst xmlns:a="http://schemas.openxmlformats.org/drawingml/2006/main">
              <a:ext uri="{FF2B5EF4-FFF2-40B4-BE49-F238E27FC236}">
                <a16:creationId xmlns:a16="http://schemas.microsoft.com/office/drawing/2014/main" id="{A7E387A2-055A-4D08-80B0-73D74B7E389A}"/>
              </a:ext>
            </a:extLst>
          </p:cNvPr>
          <p:cNvSpPr>
            <a:spLocks xmlns:a="http://schemas.openxmlformats.org/drawingml/2006/main" noGrp="1"/>
          </p:cNvSpPr>
          <p:nvPr/>
        </p:nvSpPr>
        <p:spPr>
          <a:xfrm xmlns:a="http://schemas.openxmlformats.org/drawingml/2006/main">
            <a:off x="7899400" y="2381250"/>
            <a:ext cx="3397250"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Latest rating</a:t>
            </a:r>
          </a:p>
          <a:p xmlns:a="http://schemas.openxmlformats.org/drawingml/2006/main">
            <a:pPr>
              <a:defRPr sz="1875" b="1">
                <a:solidFill>
                  <a:srgbClr val="17384C"/>
                </a:solidFill>
              </a:defRPr>
            </a:pPr>
            <a:r>
              <a:rPr sz="1875" b="1">
                <a:solidFill>
                  <a:srgbClr val="17384C"/>
                </a:solidFill>
              </a:rPr>
              <a:t>Test</a:t>
            </a:r>
          </a:p>
        </p:txBody>
      </p:sp>
      <p:sp>
        <p:nvSpPr>
          <p:cNvPr id="11" name="">
            <a:extLst xmlns:a="http://schemas.openxmlformats.org/drawingml/2006/main">
              <a:ext uri="{FF2B5EF4-FFF2-40B4-BE49-F238E27FC236}">
                <a16:creationId xmlns:a16="http://schemas.microsoft.com/office/drawing/2014/main" id="{02B11BC5-E7FA-4630-9C39-836F5DDB8343}"/>
              </a:ext>
            </a:extLst>
          </p:cNvPr>
          <p:cNvSpPr>
            <a:spLocks xmlns:a="http://schemas.openxmlformats.org/drawingml/2006/main" noGrp="1"/>
          </p:cNvSpPr>
          <p:nvPr/>
        </p:nvSpPr>
        <p:spPr>
          <a:xfrm xmlns:a="http://schemas.openxmlformats.org/drawingml/2006/main">
            <a:off x="685800" y="4048125"/>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84C"/>
                </a:solidFill>
              </a:defRPr>
            </a:defPPr>
            <a:lvl1pPr>
              <a:defRPr sz="2175" b="0">
                <a:solidFill>
                  <a:srgbClr val="17384C"/>
                </a:solidFill>
              </a:defRPr>
            </a:lvl1pPr>
            <a:lvl2pPr>
              <a:defRPr sz="2175" b="0">
                <a:solidFill>
                  <a:srgbClr val="17384C"/>
                </a:solidFill>
              </a:defRPr>
            </a:lvl2pPr>
            <a:lvl3pPr>
              <a:defRPr sz="2175" b="0">
                <a:solidFill>
                  <a:srgbClr val="17384C"/>
                </a:solidFill>
              </a:defRPr>
            </a:lvl3pPr>
            <a:lvl4pPr>
              <a:defRPr sz="2175" b="0">
                <a:solidFill>
                  <a:srgbClr val="17384C"/>
                </a:solidFill>
              </a:defRPr>
            </a:lvl4pPr>
            <a:lvl5pPr>
              <a:defRPr sz="2175" b="0">
                <a:solidFill>
                  <a:srgbClr val="17384C"/>
                </a:solidFill>
              </a:defRPr>
            </a:lvl5pPr>
            <a:lvl6pPr>
              <a:defRPr sz="2175" b="0">
                <a:solidFill>
                  <a:srgbClr val="17384C"/>
                </a:solidFill>
              </a:defRPr>
            </a:lvl6pPr>
            <a:lvl7pPr>
              <a:defRPr sz="2175" b="0">
                <a:solidFill>
                  <a:srgbClr val="17384C"/>
                </a:solidFill>
              </a:defRPr>
            </a:lvl7pPr>
            <a:lvl8pPr>
              <a:defRPr sz="2175" b="0">
                <a:solidFill>
                  <a:srgbClr val="17384C"/>
                </a:solidFill>
              </a:defRPr>
            </a:lvl8pPr>
            <a:lvl9pPr>
              <a:defRPr sz="2175" b="0">
                <a:solidFill>
                  <a:srgbClr val="17384C"/>
                </a:solidFill>
              </a:defRPr>
            </a:lvl9pPr>
          </a:lstStyle>
          <a:p xmlns:a="http://schemas.openxmlformats.org/drawingml/2006/main">
            <a:pPr>
              <a:defRPr sz="2175" b="0">
                <a:solidFill>
                  <a:srgbClr val="17384C"/>
                </a:solidFill>
              </a:defRPr>
            </a:pPr>
            <a:r>
              <a:rPr sz="2175" b="0">
                <a:solidFill>
                  <a:srgbClr val="17384C"/>
                </a:solidFill>
              </a:rPr>
              <a:t>Three development folds assess partition sensitivity</a:t>
            </a:r>
          </a:p>
        </p:txBody>
      </p:sp>
      <p:sp>
        <p:nvSpPr>
          <p:cNvPr id="12" name="">
            <a:extLst xmlns:a="http://schemas.openxmlformats.org/drawingml/2006/main">
              <a:ext uri="{FF2B5EF4-FFF2-40B4-BE49-F238E27FC236}">
                <a16:creationId xmlns:a16="http://schemas.microsoft.com/office/drawing/2014/main" id="{CF5B97FB-C93A-4D25-85AE-D2D6E484E8AE}"/>
              </a:ext>
            </a:extLst>
          </p:cNvPr>
          <p:cNvSpPr>
            <a:spLocks xmlns:a="http://schemas.openxmlformats.org/drawingml/2006/main" noGrp="1"/>
          </p:cNvSpPr>
          <p:nvPr/>
        </p:nvSpPr>
        <p:spPr>
          <a:xfrm xmlns:a="http://schemas.openxmlformats.org/drawingml/2006/main">
            <a:off x="685800" y="4829175"/>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84C"/>
                </a:solidFill>
              </a:defRPr>
            </a:defPPr>
            <a:lvl1pPr>
              <a:defRPr sz="2175" b="0">
                <a:solidFill>
                  <a:srgbClr val="17384C"/>
                </a:solidFill>
              </a:defRPr>
            </a:lvl1pPr>
            <a:lvl2pPr>
              <a:defRPr sz="2175" b="0">
                <a:solidFill>
                  <a:srgbClr val="17384C"/>
                </a:solidFill>
              </a:defRPr>
            </a:lvl2pPr>
            <a:lvl3pPr>
              <a:defRPr sz="2175" b="0">
                <a:solidFill>
                  <a:srgbClr val="17384C"/>
                </a:solidFill>
              </a:defRPr>
            </a:lvl3pPr>
            <a:lvl4pPr>
              <a:defRPr sz="2175" b="0">
                <a:solidFill>
                  <a:srgbClr val="17384C"/>
                </a:solidFill>
              </a:defRPr>
            </a:lvl4pPr>
            <a:lvl5pPr>
              <a:defRPr sz="2175" b="0">
                <a:solidFill>
                  <a:srgbClr val="17384C"/>
                </a:solidFill>
              </a:defRPr>
            </a:lvl5pPr>
            <a:lvl6pPr>
              <a:defRPr sz="2175" b="0">
                <a:solidFill>
                  <a:srgbClr val="17384C"/>
                </a:solidFill>
              </a:defRPr>
            </a:lvl6pPr>
            <a:lvl7pPr>
              <a:defRPr sz="2175" b="0">
                <a:solidFill>
                  <a:srgbClr val="17384C"/>
                </a:solidFill>
              </a:defRPr>
            </a:lvl7pPr>
            <a:lvl8pPr>
              <a:defRPr sz="2175" b="0">
                <a:solidFill>
                  <a:srgbClr val="17384C"/>
                </a:solidFill>
              </a:defRPr>
            </a:lvl8pPr>
            <a:lvl9pPr>
              <a:defRPr sz="2175" b="0">
                <a:solidFill>
                  <a:srgbClr val="17384C"/>
                </a:solidFill>
              </a:defRPr>
            </a:lvl9pPr>
          </a:lstStyle>
          <a:p xmlns:a="http://schemas.openxmlformats.org/drawingml/2006/main">
            <a:pPr>
              <a:defRPr sz="2175" b="0">
                <a:solidFill>
                  <a:srgbClr val="17384C"/>
                </a:solidFill>
              </a:defRPr>
            </a:pPr>
            <a:r>
              <a:rPr sz="2175" b="0">
                <a:solidFill>
                  <a:srgbClr val="17384C"/>
                </a:solidFill>
              </a:rPr>
              <a:t>User chronology does not ensure global chronology</a:t>
            </a:r>
          </a:p>
        </p:txBody>
      </p:sp>
      <p:sp>
        <p:nvSpPr>
          <p:cNvPr id="13" name="">
            <a:extLst xmlns:a="http://schemas.openxmlformats.org/drawingml/2006/main">
              <a:ext uri="{FF2B5EF4-FFF2-40B4-BE49-F238E27FC236}">
                <a16:creationId xmlns:a16="http://schemas.microsoft.com/office/drawing/2014/main" id="{70F98744-9C20-4389-8524-40E92C158338}"/>
              </a:ext>
            </a:extLst>
          </p:cNvPr>
          <p:cNvSpPr>
            <a:spLocks xmlns:a="http://schemas.openxmlformats.org/drawingml/2006/main" noGrp="1"/>
          </p:cNvSpPr>
          <p:nvPr/>
        </p:nvSpPr>
        <p:spPr>
          <a:xfrm xmlns:a="http://schemas.openxmlformats.org/drawingml/2006/main">
            <a:off x="685800" y="5610225"/>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84C"/>
                </a:solidFill>
              </a:defRPr>
            </a:defPPr>
            <a:lvl1pPr>
              <a:defRPr sz="2175" b="0">
                <a:solidFill>
                  <a:srgbClr val="17384C"/>
                </a:solidFill>
              </a:defRPr>
            </a:lvl1pPr>
            <a:lvl2pPr>
              <a:defRPr sz="2175" b="0">
                <a:solidFill>
                  <a:srgbClr val="17384C"/>
                </a:solidFill>
              </a:defRPr>
            </a:lvl2pPr>
            <a:lvl3pPr>
              <a:defRPr sz="2175" b="0">
                <a:solidFill>
                  <a:srgbClr val="17384C"/>
                </a:solidFill>
              </a:defRPr>
            </a:lvl3pPr>
            <a:lvl4pPr>
              <a:defRPr sz="2175" b="0">
                <a:solidFill>
                  <a:srgbClr val="17384C"/>
                </a:solidFill>
              </a:defRPr>
            </a:lvl4pPr>
            <a:lvl5pPr>
              <a:defRPr sz="2175" b="0">
                <a:solidFill>
                  <a:srgbClr val="17384C"/>
                </a:solidFill>
              </a:defRPr>
            </a:lvl5pPr>
            <a:lvl6pPr>
              <a:defRPr sz="2175" b="0">
                <a:solidFill>
                  <a:srgbClr val="17384C"/>
                </a:solidFill>
              </a:defRPr>
            </a:lvl6pPr>
            <a:lvl7pPr>
              <a:defRPr sz="2175" b="0">
                <a:solidFill>
                  <a:srgbClr val="17384C"/>
                </a:solidFill>
              </a:defRPr>
            </a:lvl7pPr>
            <a:lvl8pPr>
              <a:defRPr sz="2175" b="0">
                <a:solidFill>
                  <a:srgbClr val="17384C"/>
                </a:solidFill>
              </a:defRPr>
            </a:lvl8pPr>
            <a:lvl9pPr>
              <a:defRPr sz="2175" b="0">
                <a:solidFill>
                  <a:srgbClr val="17384C"/>
                </a:solidFill>
              </a:defRPr>
            </a:lvl9pPr>
          </a:lstStyle>
          <a:p xmlns:a="http://schemas.openxmlformats.org/drawingml/2006/main">
            <a:pPr>
              <a:defRPr sz="2175" b="0">
                <a:solidFill>
                  <a:srgbClr val="17384C"/>
                </a:solidFill>
              </a:defRPr>
            </a:pPr>
            <a:r>
              <a:rPr sz="2175" b="0">
                <a:solidFill>
                  <a:srgbClr val="17384C"/>
                </a:solidFill>
              </a:rPr>
              <a:t>Inner validation is needed for unbiased outer-fold scoring</a:t>
            </a:r>
          </a:p>
        </p:txBody>
      </p:sp>
    </p:spTree>
    <p:extLst>
      <p:ext uri="{BB962C8B-B14F-4D97-AF65-F5344CB8AC3E}">
        <p14:creationId xmlns:p14="http://schemas.microsoft.com/office/powerpoint/2010/main" val="426406893"/>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B45EC1A-21F0-4A3E-B5F0-407212743E58}"/>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79738DED-55F9-4C9C-BAEB-B02C90114212}"/>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Biased matrix factorisation</a:t>
            </a:r>
          </a:p>
        </p:txBody>
      </p:sp>
      <p:sp>
        <p:nvSpPr>
          <p:cNvPr id="4" name="">
            <a:extLst xmlns:a="http://schemas.openxmlformats.org/drawingml/2006/main">
              <a:ext uri="{FF2B5EF4-FFF2-40B4-BE49-F238E27FC236}">
                <a16:creationId xmlns:a16="http://schemas.microsoft.com/office/drawing/2014/main" id="{FC7C54DC-44D6-45F8-9766-3C04C5D04941}"/>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Koren, Bell and Volinsky (2009)</a:t>
            </a:r>
          </a:p>
        </p:txBody>
      </p:sp>
      <p:sp>
        <p:nvSpPr>
          <p:cNvPr id="5" name="">
            <a:extLst xmlns:a="http://schemas.openxmlformats.org/drawingml/2006/main">
              <a:ext uri="{FF2B5EF4-FFF2-40B4-BE49-F238E27FC236}">
                <a16:creationId xmlns:a16="http://schemas.microsoft.com/office/drawing/2014/main" id="{CC584448-B617-4C63-86BC-FB72500D6A0B}"/>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06</a:t>
            </a:r>
          </a:p>
        </p:txBody>
      </p:sp>
      <p:sp>
        <p:nvSpPr>
          <p:cNvPr id="6" name="">
            <a:extLst xmlns:a="http://schemas.openxmlformats.org/drawingml/2006/main">
              <a:ext uri="{FF2B5EF4-FFF2-40B4-BE49-F238E27FC236}">
                <a16:creationId xmlns:a16="http://schemas.microsoft.com/office/drawing/2014/main" id="{2DCBFB85-8D89-4D1B-BF3F-9CCEAA55A782}"/>
              </a:ext>
            </a:extLst>
          </p:cNvPr>
          <p:cNvSpPr>
            <a:spLocks xmlns:a="http://schemas.openxmlformats.org/drawingml/2006/main" noGrp="1"/>
          </p:cNvSpPr>
          <p:nvPr/>
        </p:nvSpPr>
        <p:spPr>
          <a:xfrm xmlns:a="http://schemas.openxmlformats.org/drawingml/2006/main">
            <a:off x="685800" y="2095500"/>
            <a:ext cx="1057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47D86"/>
                </a:solidFill>
              </a:defRPr>
            </a:defPPr>
            <a:lvl1pPr>
              <a:defRPr sz="2550" b="1">
                <a:solidFill>
                  <a:srgbClr val="147D86"/>
                </a:solidFill>
              </a:defRPr>
            </a:lvl1pPr>
            <a:lvl2pPr>
              <a:defRPr sz="2550" b="1">
                <a:solidFill>
                  <a:srgbClr val="147D86"/>
                </a:solidFill>
              </a:defRPr>
            </a:lvl2pPr>
            <a:lvl3pPr>
              <a:defRPr sz="2550" b="1">
                <a:solidFill>
                  <a:srgbClr val="147D86"/>
                </a:solidFill>
              </a:defRPr>
            </a:lvl3pPr>
            <a:lvl4pPr>
              <a:defRPr sz="2550" b="1">
                <a:solidFill>
                  <a:srgbClr val="147D86"/>
                </a:solidFill>
              </a:defRPr>
            </a:lvl4pPr>
            <a:lvl5pPr>
              <a:defRPr sz="2550" b="1">
                <a:solidFill>
                  <a:srgbClr val="147D86"/>
                </a:solidFill>
              </a:defRPr>
            </a:lvl5pPr>
            <a:lvl6pPr>
              <a:defRPr sz="2550" b="1">
                <a:solidFill>
                  <a:srgbClr val="147D86"/>
                </a:solidFill>
              </a:defRPr>
            </a:lvl6pPr>
            <a:lvl7pPr>
              <a:defRPr sz="2550" b="1">
                <a:solidFill>
                  <a:srgbClr val="147D86"/>
                </a:solidFill>
              </a:defRPr>
            </a:lvl7pPr>
            <a:lvl8pPr>
              <a:defRPr sz="2550" b="1">
                <a:solidFill>
                  <a:srgbClr val="147D86"/>
                </a:solidFill>
              </a:defRPr>
            </a:lvl8pPr>
            <a:lvl9pPr>
              <a:defRPr sz="2550" b="1">
                <a:solidFill>
                  <a:srgbClr val="147D86"/>
                </a:solidFill>
              </a:defRPr>
            </a:lvl9pPr>
          </a:lstStyle>
          <a:p xmlns:a="http://schemas.openxmlformats.org/drawingml/2006/main">
            <a:pPr>
              <a:defRPr sz="2550" b="1">
                <a:solidFill>
                  <a:srgbClr val="147D86"/>
                </a:solidFill>
              </a:defRPr>
            </a:pPr>
            <a:r>
              <a:rPr sz="2550" b="1">
                <a:solidFill>
                  <a:srgbClr val="147D86"/>
                </a:solidFill>
              </a:rPr>
              <a:t>r̂ = global mean + user bias + film bias + latent dot product</a:t>
            </a:r>
          </a:p>
        </p:txBody>
      </p:sp>
      <p:graphicFrame>
        <p:nvGraphicFramePr>
          <p:cNvPr id="7" name="">
            <a:extLst xmlns:a="http://schemas.openxmlformats.org/drawingml/2006/main">
              <a:ext uri="{FF2B5EF4-FFF2-40B4-BE49-F238E27FC236}">
                <a16:creationId xmlns:a16="http://schemas.microsoft.com/office/drawing/2014/main" id="{570B75CD-7930-4C5C-8DEE-986556CBDE94}"/>
              </a:ext>
            </a:extLst>
          </p:cNvPr>
          <p:cNvGraphicFramePr/>
          <p:nvPr/>
        </p:nvGraphicFramePr>
        <p:xfrm>
          <a:off xmlns:a="http://schemas.openxmlformats.org/drawingml/2006/main" x="609600" y="3571875"/>
          <a:ext xmlns:a="http://schemas.openxmlformats.org/drawingml/2006/main" cx="10934700" cy="1428750"/>
        </p:xfrm>
        <a:graphic xmlns:a="http://schemas.openxmlformats.org/drawingml/2006/main">
          <a:graphicData uri="http://schemas.openxmlformats.org/drawingml/2006/table">
            <a:tbl>
              <a:tblPr/>
              <a:tblGrid>
                <a:gridCol w="2733675"/>
                <a:gridCol w="2733675"/>
                <a:gridCol w="2733675"/>
                <a:gridCol w="2733675"/>
              </a:tblGrid>
              <a:tr h="714375">
                <a:tc>
                  <a:txBody>
                    <a:bodyPr/>
                    <a:lstStyle/>
                    <a:p>
                      <a:r>
                        <a:rPr sz="1725" b="1">
                          <a:solidFill>
                            <a:srgbClr val="FFFFFF"/>
                          </a:solidFill>
                        </a:rPr>
                        <a:t>Factors</a:t>
                      </a:r>
                    </a:p>
                  </a:txBody>
                  <a:tcPr marL="91440" marR="91440" marT="45720" marB="45720">
                    <a:solidFill>
                      <a:srgbClr val="17384C"/>
                    </a:solidFill>
                  </a:tcPr>
                </a:tc>
                <a:tc>
                  <a:txBody>
                    <a:bodyPr/>
                    <a:lstStyle/>
                    <a:p>
                      <a:r>
                        <a:rPr sz="1725" b="1">
                          <a:solidFill>
                            <a:srgbClr val="FFFFFF"/>
                          </a:solidFill>
                        </a:rPr>
                        <a:t>Learning rate</a:t>
                      </a:r>
                    </a:p>
                  </a:txBody>
                  <a:tcPr marL="91440" marR="91440" marT="45720" marB="45720">
                    <a:solidFill>
                      <a:srgbClr val="17384C"/>
                    </a:solidFill>
                  </a:tcPr>
                </a:tc>
                <a:tc>
                  <a:txBody>
                    <a:bodyPr/>
                    <a:lstStyle/>
                    <a:p>
                      <a:r>
                        <a:rPr sz="1725" b="1">
                          <a:solidFill>
                            <a:srgbClr val="FFFFFF"/>
                          </a:solidFill>
                        </a:rPr>
                        <a:t>L2 penalty</a:t>
                      </a:r>
                    </a:p>
                  </a:txBody>
                  <a:tcPr marL="91440" marR="91440" marT="45720" marB="45720">
                    <a:solidFill>
                      <a:srgbClr val="17384C"/>
                    </a:solidFill>
                  </a:tcPr>
                </a:tc>
                <a:tc>
                  <a:txBody>
                    <a:bodyPr/>
                    <a:lstStyle/>
                    <a:p>
                      <a:r>
                        <a:rPr sz="1725" b="1">
                          <a:solidFill>
                            <a:srgbClr val="FFFFFF"/>
                          </a:solidFill>
                        </a:rPr>
                        <a:t>Epoch limit</a:t>
                      </a:r>
                    </a:p>
                  </a:txBody>
                  <a:tcPr marL="91440" marR="91440" marT="45720" marB="45720">
                    <a:solidFill>
                      <a:srgbClr val="17384C"/>
                    </a:solidFill>
                  </a:tcPr>
                </a:tc>
              </a:tr>
              <a:tr h="714375">
                <a:tc>
                  <a:txBody>
                    <a:bodyPr/>
                    <a:lstStyle/>
                    <a:p>
                      <a:r>
                        <a:rPr sz="1725" b="0">
                          <a:solidFill>
                            <a:srgbClr val="17384C"/>
                          </a:solidFill>
                        </a:rPr>
                        <a:t>20</a:t>
                      </a:r>
                    </a:p>
                  </a:txBody>
                  <a:tcPr marL="91440" marR="91440" marT="45720" marB="45720">
                    <a:solidFill>
                      <a:srgbClr val="EDF3F5"/>
                    </a:solidFill>
                  </a:tcPr>
                </a:tc>
                <a:tc>
                  <a:txBody>
                    <a:bodyPr/>
                    <a:lstStyle/>
                    <a:p>
                      <a:r>
                        <a:rPr sz="1725" b="0">
                          <a:solidFill>
                            <a:srgbClr val="17384C"/>
                          </a:solidFill>
                        </a:rPr>
                        <a:t>0.01</a:t>
                      </a:r>
                    </a:p>
                  </a:txBody>
                  <a:tcPr marL="91440" marR="91440" marT="45720" marB="45720">
                    <a:solidFill>
                      <a:srgbClr val="EDF3F5"/>
                    </a:solidFill>
                  </a:tcPr>
                </a:tc>
                <a:tc>
                  <a:txBody>
                    <a:bodyPr/>
                    <a:lstStyle/>
                    <a:p>
                      <a:r>
                        <a:rPr sz="1725" b="0">
                          <a:solidFill>
                            <a:srgbClr val="17384C"/>
                          </a:solidFill>
                        </a:rPr>
                        <a:t>0.03</a:t>
                      </a:r>
                    </a:p>
                  </a:txBody>
                  <a:tcPr marL="91440" marR="91440" marT="45720" marB="45720">
                    <a:solidFill>
                      <a:srgbClr val="EDF3F5"/>
                    </a:solidFill>
                  </a:tcPr>
                </a:tc>
                <a:tc>
                  <a:txBody>
                    <a:bodyPr/>
                    <a:lstStyle/>
                    <a:p>
                      <a:r>
                        <a:rPr sz="1725" b="0">
                          <a:solidFill>
                            <a:srgbClr val="17384C"/>
                          </a:solidFill>
                        </a:rPr>
                        <a:t>25</a:t>
                      </a:r>
                    </a:p>
                  </a:txBody>
                  <a:tcPr marL="91440" marR="91440" marT="45720" marB="45720">
                    <a:solidFill>
                      <a:srgbClr val="EDF3F5"/>
                    </a:solidFill>
                  </a:tcPr>
                </a:tc>
              </a:tr>
            </a:tbl>
          </a:graphicData>
        </a:graphic>
      </p:graphicFrame>
      <p:sp>
        <p:nvSpPr>
          <p:cNvPr id="8" name="">
            <a:extLst xmlns:a="http://schemas.openxmlformats.org/drawingml/2006/main">
              <a:ext uri="{FF2B5EF4-FFF2-40B4-BE49-F238E27FC236}">
                <a16:creationId xmlns:a16="http://schemas.microsoft.com/office/drawing/2014/main" id="{C3CC18E4-EABA-4A3D-A178-7EB0C0A0E5CA}"/>
              </a:ext>
            </a:extLst>
          </p:cNvPr>
          <p:cNvSpPr>
            <a:spLocks xmlns:a="http://schemas.openxmlformats.org/drawingml/2006/main" noGrp="1"/>
          </p:cNvSpPr>
          <p:nvPr/>
        </p:nvSpPr>
        <p:spPr>
          <a:xfrm xmlns:a="http://schemas.openxmlformats.org/drawingml/2006/main">
            <a:off x="685800" y="5476875"/>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7384C"/>
                </a:solidFill>
              </a:defRPr>
            </a:defPPr>
            <a:lvl1pPr>
              <a:defRPr sz="2100" b="0">
                <a:solidFill>
                  <a:srgbClr val="17384C"/>
                </a:solidFill>
              </a:defRPr>
            </a:lvl1pPr>
            <a:lvl2pPr>
              <a:defRPr sz="2100" b="0">
                <a:solidFill>
                  <a:srgbClr val="17384C"/>
                </a:solidFill>
              </a:defRPr>
            </a:lvl2pPr>
            <a:lvl3pPr>
              <a:defRPr sz="2100" b="0">
                <a:solidFill>
                  <a:srgbClr val="17384C"/>
                </a:solidFill>
              </a:defRPr>
            </a:lvl3pPr>
            <a:lvl4pPr>
              <a:defRPr sz="2100" b="0">
                <a:solidFill>
                  <a:srgbClr val="17384C"/>
                </a:solidFill>
              </a:defRPr>
            </a:lvl4pPr>
            <a:lvl5pPr>
              <a:defRPr sz="2100" b="0">
                <a:solidFill>
                  <a:srgbClr val="17384C"/>
                </a:solidFill>
              </a:defRPr>
            </a:lvl5pPr>
            <a:lvl6pPr>
              <a:defRPr sz="2100" b="0">
                <a:solidFill>
                  <a:srgbClr val="17384C"/>
                </a:solidFill>
              </a:defRPr>
            </a:lvl6pPr>
            <a:lvl7pPr>
              <a:defRPr sz="2100" b="0">
                <a:solidFill>
                  <a:srgbClr val="17384C"/>
                </a:solidFill>
              </a:defRPr>
            </a:lvl7pPr>
            <a:lvl8pPr>
              <a:defRPr sz="2100" b="0">
                <a:solidFill>
                  <a:srgbClr val="17384C"/>
                </a:solidFill>
              </a:defRPr>
            </a:lvl8pPr>
            <a:lvl9pPr>
              <a:defRPr sz="2100" b="0">
                <a:solidFill>
                  <a:srgbClr val="17384C"/>
                </a:solidFill>
              </a:defRPr>
            </a:lvl9pPr>
          </a:lstStyle>
          <a:p xmlns:a="http://schemas.openxmlformats.org/drawingml/2006/main">
            <a:pPr>
              <a:defRPr sz="2100" b="0">
                <a:solidFill>
                  <a:srgbClr val="17384C"/>
                </a:solidFill>
              </a:defRPr>
            </a:pPr>
            <a:r>
              <a:rPr sz="2100" b="0">
                <a:solidFill>
                  <a:srgbClr val="17384C"/>
                </a:solidFill>
              </a:rPr>
              <a:t>Early stopping patience: 3     Prediction range: 1–5</a:t>
            </a:r>
          </a:p>
        </p:txBody>
      </p:sp>
    </p:spTree>
    <p:extLst>
      <p:ext uri="{BB962C8B-B14F-4D97-AF65-F5344CB8AC3E}">
        <p14:creationId xmlns:p14="http://schemas.microsoft.com/office/powerpoint/2010/main" val="1565227185"/>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B123E5E-1C7C-4B2C-84ED-29B765A1E4C4}"/>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A6A3631F-BE55-4881-8D6A-30F138DDFE66}"/>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Neural collaborative filtering</a:t>
            </a:r>
          </a:p>
        </p:txBody>
      </p:sp>
      <p:sp>
        <p:nvSpPr>
          <p:cNvPr id="4" name="">
            <a:extLst xmlns:a="http://schemas.openxmlformats.org/drawingml/2006/main">
              <a:ext uri="{FF2B5EF4-FFF2-40B4-BE49-F238E27FC236}">
                <a16:creationId xmlns:a16="http://schemas.microsoft.com/office/drawing/2014/main" id="{74B1D83F-0D46-40D0-94AA-1E2E4B5079B6}"/>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Adapted from He et al. (2017) for explicit rating regression</a:t>
            </a:r>
          </a:p>
        </p:txBody>
      </p:sp>
      <p:sp>
        <p:nvSpPr>
          <p:cNvPr id="5" name="">
            <a:extLst xmlns:a="http://schemas.openxmlformats.org/drawingml/2006/main">
              <a:ext uri="{FF2B5EF4-FFF2-40B4-BE49-F238E27FC236}">
                <a16:creationId xmlns:a16="http://schemas.microsoft.com/office/drawing/2014/main" id="{893BB597-B07A-47BE-B1A2-65AC44409769}"/>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07</a:t>
            </a:r>
          </a:p>
        </p:txBody>
      </p:sp>
      <p:sp>
        <p:nvSpPr>
          <p:cNvPr id="6" name="">
            <a:extLst xmlns:a="http://schemas.openxmlformats.org/drawingml/2006/main">
              <a:ext uri="{FF2B5EF4-FFF2-40B4-BE49-F238E27FC236}">
                <a16:creationId xmlns:a16="http://schemas.microsoft.com/office/drawing/2014/main" id="{287308E4-A614-4003-9310-A243D862EAE8}"/>
              </a:ext>
            </a:extLst>
          </p:cNvPr>
          <p:cNvSpPr>
            <a:spLocks xmlns:a="http://schemas.openxmlformats.org/drawingml/2006/main" noGrp="1"/>
          </p:cNvSpPr>
          <p:nvPr/>
        </p:nvSpPr>
        <p:spPr>
          <a:xfrm xmlns:a="http://schemas.openxmlformats.org/drawingml/2006/main">
            <a:off x="609600" y="2286000"/>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User + film</a:t>
            </a:r>
          </a:p>
          <a:p xmlns:a="http://schemas.openxmlformats.org/drawingml/2006/main">
            <a:pPr>
              <a:defRPr sz="1875" b="1">
                <a:solidFill>
                  <a:srgbClr val="17384C"/>
                </a:solidFill>
              </a:defRPr>
            </a:pPr>
            <a:r>
              <a:rPr sz="1875" b="1">
                <a:solidFill>
                  <a:srgbClr val="17384C"/>
                </a:solidFill>
              </a:rPr>
              <a:t>24D each</a:t>
            </a:r>
          </a:p>
        </p:txBody>
      </p:sp>
      <p:sp>
        <p:nvSpPr>
          <p:cNvPr id="7" name="">
            <a:extLst xmlns:a="http://schemas.openxmlformats.org/drawingml/2006/main">
              <a:ext uri="{FF2B5EF4-FFF2-40B4-BE49-F238E27FC236}">
                <a16:creationId xmlns:a16="http://schemas.microsoft.com/office/drawing/2014/main" id="{5EFB45EF-6EAF-4A96-B708-D4EE0E9ABBD6}"/>
              </a:ext>
            </a:extLst>
          </p:cNvPr>
          <p:cNvSpPr>
            <a:spLocks xmlns:a="http://schemas.openxmlformats.org/drawingml/2006/main" noGrp="1"/>
          </p:cNvSpPr>
          <p:nvPr/>
        </p:nvSpPr>
        <p:spPr>
          <a:xfrm xmlns:a="http://schemas.openxmlformats.org/drawingml/2006/main">
            <a:off x="3105150" y="2543175"/>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8" name="">
            <a:extLst xmlns:a="http://schemas.openxmlformats.org/drawingml/2006/main">
              <a:ext uri="{FF2B5EF4-FFF2-40B4-BE49-F238E27FC236}">
                <a16:creationId xmlns:a16="http://schemas.microsoft.com/office/drawing/2014/main" id="{93EB8477-D240-41E8-911D-8EDC227CA4D3}"/>
              </a:ext>
            </a:extLst>
          </p:cNvPr>
          <p:cNvSpPr>
            <a:spLocks xmlns:a="http://schemas.openxmlformats.org/drawingml/2006/main" noGrp="1"/>
          </p:cNvSpPr>
          <p:nvPr/>
        </p:nvSpPr>
        <p:spPr>
          <a:xfrm xmlns:a="http://schemas.openxmlformats.org/drawingml/2006/main">
            <a:off x="3343275" y="2286000"/>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Concatenate</a:t>
            </a:r>
          </a:p>
          <a:p xmlns:a="http://schemas.openxmlformats.org/drawingml/2006/main">
            <a:pPr>
              <a:defRPr sz="1875" b="1">
                <a:solidFill>
                  <a:srgbClr val="17384C"/>
                </a:solidFill>
              </a:defRPr>
            </a:pPr>
            <a:r>
              <a:rPr sz="1875" b="1">
                <a:solidFill>
                  <a:srgbClr val="17384C"/>
                </a:solidFill>
              </a:rPr>
              <a:t>48D</a:t>
            </a:r>
          </a:p>
        </p:txBody>
      </p:sp>
      <p:sp>
        <p:nvSpPr>
          <p:cNvPr id="9" name="">
            <a:extLst xmlns:a="http://schemas.openxmlformats.org/drawingml/2006/main">
              <a:ext uri="{FF2B5EF4-FFF2-40B4-BE49-F238E27FC236}">
                <a16:creationId xmlns:a16="http://schemas.microsoft.com/office/drawing/2014/main" id="{E4136011-84C3-4662-AF62-F0EBABA308B4}"/>
              </a:ext>
            </a:extLst>
          </p:cNvPr>
          <p:cNvSpPr>
            <a:spLocks xmlns:a="http://schemas.openxmlformats.org/drawingml/2006/main" noGrp="1"/>
          </p:cNvSpPr>
          <p:nvPr/>
        </p:nvSpPr>
        <p:spPr>
          <a:xfrm xmlns:a="http://schemas.openxmlformats.org/drawingml/2006/main">
            <a:off x="5838825" y="2543175"/>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10" name="">
            <a:extLst xmlns:a="http://schemas.openxmlformats.org/drawingml/2006/main">
              <a:ext uri="{FF2B5EF4-FFF2-40B4-BE49-F238E27FC236}">
                <a16:creationId xmlns:a16="http://schemas.microsoft.com/office/drawing/2014/main" id="{DBCABAF5-B6FD-446C-89B3-859AD0A70D0A}"/>
              </a:ext>
            </a:extLst>
          </p:cNvPr>
          <p:cNvSpPr>
            <a:spLocks xmlns:a="http://schemas.openxmlformats.org/drawingml/2006/main" noGrp="1"/>
          </p:cNvSpPr>
          <p:nvPr/>
        </p:nvSpPr>
        <p:spPr>
          <a:xfrm xmlns:a="http://schemas.openxmlformats.org/drawingml/2006/main">
            <a:off x="6076950" y="2286000"/>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ReLU layers</a:t>
            </a:r>
          </a:p>
          <a:p xmlns:a="http://schemas.openxmlformats.org/drawingml/2006/main">
            <a:pPr>
              <a:defRPr sz="1875" b="1">
                <a:solidFill>
                  <a:srgbClr val="17384C"/>
                </a:solidFill>
              </a:defRPr>
            </a:pPr>
            <a:r>
              <a:rPr sz="1875" b="1">
                <a:solidFill>
                  <a:srgbClr val="17384C"/>
                </a:solidFill>
              </a:rPr>
              <a:t>64 then 32</a:t>
            </a:r>
          </a:p>
        </p:txBody>
      </p:sp>
      <p:sp>
        <p:nvSpPr>
          <p:cNvPr id="11" name="">
            <a:extLst xmlns:a="http://schemas.openxmlformats.org/drawingml/2006/main">
              <a:ext uri="{FF2B5EF4-FFF2-40B4-BE49-F238E27FC236}">
                <a16:creationId xmlns:a16="http://schemas.microsoft.com/office/drawing/2014/main" id="{54AD2246-AD9D-4DE0-B343-EDBD45FB4FFF}"/>
              </a:ext>
            </a:extLst>
          </p:cNvPr>
          <p:cNvSpPr>
            <a:spLocks xmlns:a="http://schemas.openxmlformats.org/drawingml/2006/main" noGrp="1"/>
          </p:cNvSpPr>
          <p:nvPr/>
        </p:nvSpPr>
        <p:spPr>
          <a:xfrm xmlns:a="http://schemas.openxmlformats.org/drawingml/2006/main">
            <a:off x="8572500" y="2543175"/>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12" name="">
            <a:extLst xmlns:a="http://schemas.openxmlformats.org/drawingml/2006/main">
              <a:ext uri="{FF2B5EF4-FFF2-40B4-BE49-F238E27FC236}">
                <a16:creationId xmlns:a16="http://schemas.microsoft.com/office/drawing/2014/main" id="{02B1FDD7-394E-4653-8285-6D5EB190DA29}"/>
              </a:ext>
            </a:extLst>
          </p:cNvPr>
          <p:cNvSpPr>
            <a:spLocks xmlns:a="http://schemas.openxmlformats.org/drawingml/2006/main" noGrp="1"/>
          </p:cNvSpPr>
          <p:nvPr/>
        </p:nvSpPr>
        <p:spPr>
          <a:xfrm xmlns:a="http://schemas.openxmlformats.org/drawingml/2006/main">
            <a:off x="8810625" y="2286000"/>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Sigmoid</a:t>
            </a:r>
          </a:p>
          <a:p xmlns:a="http://schemas.openxmlformats.org/drawingml/2006/main">
            <a:pPr>
              <a:defRPr sz="1875" b="1">
                <a:solidFill>
                  <a:srgbClr val="17384C"/>
                </a:solidFill>
              </a:defRPr>
            </a:pPr>
            <a:r>
              <a:rPr sz="1875" b="1">
                <a:solidFill>
                  <a:srgbClr val="17384C"/>
                </a:solidFill>
              </a:rPr>
              <a:t>Rescale 1–5</a:t>
            </a:r>
          </a:p>
        </p:txBody>
      </p:sp>
      <p:graphicFrame>
        <p:nvGraphicFramePr>
          <p:cNvPr id="13" name="">
            <a:extLst xmlns:a="http://schemas.openxmlformats.org/drawingml/2006/main">
              <a:ext uri="{FF2B5EF4-FFF2-40B4-BE49-F238E27FC236}">
                <a16:creationId xmlns:a16="http://schemas.microsoft.com/office/drawing/2014/main" id="{3526B9CC-8F39-4C21-A79A-B834B504DE7F}"/>
              </a:ext>
            </a:extLst>
          </p:cNvPr>
          <p:cNvGraphicFramePr/>
          <p:nvPr/>
        </p:nvGraphicFramePr>
        <p:xfrm>
          <a:off xmlns:a="http://schemas.openxmlformats.org/drawingml/2006/main" x="609600" y="4191000"/>
          <a:ext xmlns:a="http://schemas.openxmlformats.org/drawingml/2006/main" cx="10934700" cy="1381125"/>
        </p:xfrm>
        <a:graphic xmlns:a="http://schemas.openxmlformats.org/drawingml/2006/main">
          <a:graphicData uri="http://schemas.openxmlformats.org/drawingml/2006/table">
            <a:tbl>
              <a:tblPr/>
              <a:tblGrid>
                <a:gridCol w="2733675"/>
                <a:gridCol w="2733675"/>
                <a:gridCol w="2733675"/>
                <a:gridCol w="2733675"/>
              </a:tblGrid>
              <a:tr h="690563">
                <a:tc>
                  <a:txBody>
                    <a:bodyPr/>
                    <a:lstStyle/>
                    <a:p>
                      <a:r>
                        <a:rPr sz="1725" b="1">
                          <a:solidFill>
                            <a:srgbClr val="FFFFFF"/>
                          </a:solidFill>
                        </a:rPr>
                        <a:t>Optimiser</a:t>
                      </a:r>
                    </a:p>
                  </a:txBody>
                  <a:tcPr marL="91440" marR="91440" marT="45720" marB="45720">
                    <a:solidFill>
                      <a:srgbClr val="17384C"/>
                    </a:solidFill>
                  </a:tcPr>
                </a:tc>
                <a:tc>
                  <a:txBody>
                    <a:bodyPr/>
                    <a:lstStyle/>
                    <a:p>
                      <a:r>
                        <a:rPr sz="1725" b="1">
                          <a:solidFill>
                            <a:srgbClr val="FFFFFF"/>
                          </a:solidFill>
                        </a:rPr>
                        <a:t>Batch size</a:t>
                      </a:r>
                    </a:p>
                  </a:txBody>
                  <a:tcPr marL="91440" marR="91440" marT="45720" marB="45720">
                    <a:solidFill>
                      <a:srgbClr val="17384C"/>
                    </a:solidFill>
                  </a:tcPr>
                </a:tc>
                <a:tc>
                  <a:txBody>
                    <a:bodyPr/>
                    <a:lstStyle/>
                    <a:p>
                      <a:r>
                        <a:rPr sz="1725" b="1">
                          <a:solidFill>
                            <a:srgbClr val="FFFFFF"/>
                          </a:solidFill>
                        </a:rPr>
                        <a:t>Dropout</a:t>
                      </a:r>
                    </a:p>
                  </a:txBody>
                  <a:tcPr marL="91440" marR="91440" marT="45720" marB="45720">
                    <a:solidFill>
                      <a:srgbClr val="17384C"/>
                    </a:solidFill>
                  </a:tcPr>
                </a:tc>
                <a:tc>
                  <a:txBody>
                    <a:bodyPr/>
                    <a:lstStyle/>
                    <a:p>
                      <a:r>
                        <a:rPr sz="1725" b="1">
                          <a:solidFill>
                            <a:srgbClr val="FFFFFF"/>
                          </a:solidFill>
                        </a:rPr>
                        <a:t>Learning rate</a:t>
                      </a:r>
                    </a:p>
                  </a:txBody>
                  <a:tcPr marL="91440" marR="91440" marT="45720" marB="45720">
                    <a:solidFill>
                      <a:srgbClr val="17384C"/>
                    </a:solidFill>
                  </a:tcPr>
                </a:tc>
              </a:tr>
              <a:tr h="690563">
                <a:tc>
                  <a:txBody>
                    <a:bodyPr/>
                    <a:lstStyle/>
                    <a:p>
                      <a:r>
                        <a:rPr sz="1725" b="0">
                          <a:solidFill>
                            <a:srgbClr val="17384C"/>
                          </a:solidFill>
                        </a:rPr>
                        <a:t>Adam</a:t>
                      </a:r>
                    </a:p>
                  </a:txBody>
                  <a:tcPr marL="91440" marR="91440" marT="45720" marB="45720">
                    <a:solidFill>
                      <a:srgbClr val="EDF3F5"/>
                    </a:solidFill>
                  </a:tcPr>
                </a:tc>
                <a:tc>
                  <a:txBody>
                    <a:bodyPr/>
                    <a:lstStyle/>
                    <a:p>
                      <a:r>
                        <a:rPr sz="1725" b="0">
                          <a:solidFill>
                            <a:srgbClr val="17384C"/>
                          </a:solidFill>
                        </a:rPr>
                        <a:t>1,024</a:t>
                      </a:r>
                    </a:p>
                  </a:txBody>
                  <a:tcPr marL="91440" marR="91440" marT="45720" marB="45720">
                    <a:solidFill>
                      <a:srgbClr val="EDF3F5"/>
                    </a:solidFill>
                  </a:tcPr>
                </a:tc>
                <a:tc>
                  <a:txBody>
                    <a:bodyPr/>
                    <a:lstStyle/>
                    <a:p>
                      <a:r>
                        <a:rPr sz="1725" b="0">
                          <a:solidFill>
                            <a:srgbClr val="17384C"/>
                          </a:solidFill>
                        </a:rPr>
                        <a:t>0.15</a:t>
                      </a:r>
                    </a:p>
                  </a:txBody>
                  <a:tcPr marL="91440" marR="91440" marT="45720" marB="45720">
                    <a:solidFill>
                      <a:srgbClr val="EDF3F5"/>
                    </a:solidFill>
                  </a:tcPr>
                </a:tc>
                <a:tc>
                  <a:txBody>
                    <a:bodyPr/>
                    <a:lstStyle/>
                    <a:p>
                      <a:r>
                        <a:rPr sz="1725" b="0">
                          <a:solidFill>
                            <a:srgbClr val="17384C"/>
                          </a:solidFill>
                        </a:rPr>
                        <a:t>0.002</a:t>
                      </a:r>
                    </a:p>
                  </a:txBody>
                  <a:tcPr marL="91440" marR="91440" marT="45720" marB="45720">
                    <a:solidFill>
                      <a:srgbClr val="EDF3F5"/>
                    </a:solidFill>
                  </a:tcPr>
                </a:tc>
              </a:tr>
            </a:tbl>
          </a:graphicData>
        </a:graphic>
      </p:graphicFrame>
    </p:spTree>
    <p:extLst>
      <p:ext uri="{BB962C8B-B14F-4D97-AF65-F5344CB8AC3E}">
        <p14:creationId xmlns:p14="http://schemas.microsoft.com/office/powerpoint/2010/main" val="84331906"/>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7457ED8-8DA1-4F32-9CCB-54FDF1DADADA}"/>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C8CCC462-76E8-4ED8-A4CE-52B1E25A6840}"/>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Architectural trade-offs</a:t>
            </a:r>
          </a:p>
        </p:txBody>
      </p:sp>
      <p:sp>
        <p:nvSpPr>
          <p:cNvPr id="4" name="">
            <a:extLst xmlns:a="http://schemas.openxmlformats.org/drawingml/2006/main">
              <a:ext uri="{FF2B5EF4-FFF2-40B4-BE49-F238E27FC236}">
                <a16:creationId xmlns:a16="http://schemas.microsoft.com/office/drawing/2014/main" id="{18A11058-ABEF-4471-9A6F-89593B2C1E15}"/>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Rendle et al. (2020)</a:t>
            </a:r>
          </a:p>
        </p:txBody>
      </p:sp>
      <p:sp>
        <p:nvSpPr>
          <p:cNvPr id="5" name="">
            <a:extLst xmlns:a="http://schemas.openxmlformats.org/drawingml/2006/main">
              <a:ext uri="{FF2B5EF4-FFF2-40B4-BE49-F238E27FC236}">
                <a16:creationId xmlns:a16="http://schemas.microsoft.com/office/drawing/2014/main" id="{23CBAC87-40D0-42A0-AE49-22FA82726234}"/>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08</a:t>
            </a:r>
          </a:p>
        </p:txBody>
      </p:sp>
      <p:graphicFrame>
        <p:nvGraphicFramePr>
          <p:cNvPr id="6" name="">
            <a:extLst xmlns:a="http://schemas.openxmlformats.org/drawingml/2006/main">
              <a:ext uri="{FF2B5EF4-FFF2-40B4-BE49-F238E27FC236}">
                <a16:creationId xmlns:a16="http://schemas.microsoft.com/office/drawing/2014/main" id="{7006F6EA-D6EB-4FE1-A3DF-50E4C8B4A430}"/>
              </a:ext>
            </a:extLst>
          </p:cNvPr>
          <p:cNvGraphicFramePr/>
          <p:nvPr/>
        </p:nvGraphicFramePr>
        <p:xfrm>
          <a:off xmlns:a="http://schemas.openxmlformats.org/drawingml/2006/main" x="609600" y="2000250"/>
          <a:ext xmlns:a="http://schemas.openxmlformats.org/drawingml/2006/main" cx="10934700" cy="3714750"/>
        </p:xfrm>
        <a:graphic xmlns:a="http://schemas.openxmlformats.org/drawingml/2006/main">
          <a:graphicData uri="http://schemas.openxmlformats.org/drawingml/2006/table">
            <a:tbl>
              <a:tblPr/>
              <a:tblGrid>
                <a:gridCol w="3644900"/>
                <a:gridCol w="3644900"/>
                <a:gridCol w="3644900"/>
              </a:tblGrid>
              <a:tr h="742950">
                <a:tc>
                  <a:txBody>
                    <a:bodyPr/>
                    <a:lstStyle/>
                    <a:p>
                      <a:r>
                        <a:rPr sz="1725" b="1">
                          <a:solidFill>
                            <a:srgbClr val="FFFFFF"/>
                          </a:solidFill>
                        </a:rPr>
                        <a:t>Dimension</a:t>
                      </a:r>
                    </a:p>
                  </a:txBody>
                  <a:tcPr marL="91440" marR="91440" marT="45720" marB="45720">
                    <a:solidFill>
                      <a:srgbClr val="17384C"/>
                    </a:solidFill>
                  </a:tcPr>
                </a:tc>
                <a:tc>
                  <a:txBody>
                    <a:bodyPr/>
                    <a:lstStyle/>
                    <a:p>
                      <a:r>
                        <a:rPr sz="1725" b="1">
                          <a:solidFill>
                            <a:srgbClr val="FFFFFF"/>
                          </a:solidFill>
                        </a:rPr>
                        <a:t>Matrix factorisation</a:t>
                      </a:r>
                    </a:p>
                  </a:txBody>
                  <a:tcPr marL="91440" marR="91440" marT="45720" marB="45720">
                    <a:solidFill>
                      <a:srgbClr val="17384C"/>
                    </a:solidFill>
                  </a:tcPr>
                </a:tc>
                <a:tc>
                  <a:txBody>
                    <a:bodyPr/>
                    <a:lstStyle/>
                    <a:p>
                      <a:r>
                        <a:rPr sz="1725" b="1">
                          <a:solidFill>
                            <a:srgbClr val="FFFFFF"/>
                          </a:solidFill>
                        </a:rPr>
                        <a:t>Neural model</a:t>
                      </a:r>
                    </a:p>
                  </a:txBody>
                  <a:tcPr marL="91440" marR="91440" marT="45720" marB="45720">
                    <a:solidFill>
                      <a:srgbClr val="17384C"/>
                    </a:solidFill>
                  </a:tcPr>
                </a:tc>
              </a:tr>
              <a:tr h="742950">
                <a:tc>
                  <a:txBody>
                    <a:bodyPr/>
                    <a:lstStyle/>
                    <a:p>
                      <a:r>
                        <a:rPr sz="1725" b="0">
                          <a:solidFill>
                            <a:srgbClr val="17384C"/>
                          </a:solidFill>
                        </a:rPr>
                        <a:t>Interaction</a:t>
                      </a:r>
                    </a:p>
                  </a:txBody>
                  <a:tcPr marL="91440" marR="91440" marT="45720" marB="45720">
                    <a:solidFill>
                      <a:srgbClr val="EDF3F5"/>
                    </a:solidFill>
                  </a:tcPr>
                </a:tc>
                <a:tc>
                  <a:txBody>
                    <a:bodyPr/>
                    <a:lstStyle/>
                    <a:p>
                      <a:r>
                        <a:rPr sz="1725" b="0">
                          <a:solidFill>
                            <a:srgbClr val="17384C"/>
                          </a:solidFill>
                        </a:rPr>
                        <a:t>Dot product</a:t>
                      </a:r>
                    </a:p>
                  </a:txBody>
                  <a:tcPr marL="91440" marR="91440" marT="45720" marB="45720">
                    <a:solidFill>
                      <a:srgbClr val="EDF3F5"/>
                    </a:solidFill>
                  </a:tcPr>
                </a:tc>
                <a:tc>
                  <a:txBody>
                    <a:bodyPr/>
                    <a:lstStyle/>
                    <a:p>
                      <a:r>
                        <a:rPr sz="1725" b="0">
                          <a:solidFill>
                            <a:srgbClr val="17384C"/>
                          </a:solidFill>
                        </a:rPr>
                        <a:t>Nonlinear network</a:t>
                      </a:r>
                    </a:p>
                  </a:txBody>
                  <a:tcPr marL="91440" marR="91440" marT="45720" marB="45720">
                    <a:solidFill>
                      <a:srgbClr val="EDF3F5"/>
                    </a:solidFill>
                  </a:tcPr>
                </a:tc>
              </a:tr>
              <a:tr h="742950">
                <a:tc>
                  <a:txBody>
                    <a:bodyPr/>
                    <a:lstStyle/>
                    <a:p>
                      <a:r>
                        <a:rPr sz="1725" b="0">
                          <a:solidFill>
                            <a:srgbClr val="17384C"/>
                          </a:solidFill>
                        </a:rPr>
                        <a:t>Explanation</a:t>
                      </a:r>
                    </a:p>
                  </a:txBody>
                  <a:tcPr marL="91440" marR="91440" marT="45720" marB="45720">
                    <a:solidFill>
                      <a:srgbClr val="FFFFFF"/>
                    </a:solidFill>
                  </a:tcPr>
                </a:tc>
                <a:tc>
                  <a:txBody>
                    <a:bodyPr/>
                    <a:lstStyle/>
                    <a:p>
                      <a:r>
                        <a:rPr sz="1725" b="0">
                          <a:solidFill>
                            <a:srgbClr val="17384C"/>
                          </a:solidFill>
                        </a:rPr>
                        <a:t>Additive decomposition</a:t>
                      </a:r>
                    </a:p>
                  </a:txBody>
                  <a:tcPr marL="91440" marR="91440" marT="45720" marB="45720">
                    <a:solidFill>
                      <a:srgbClr val="FFFFFF"/>
                    </a:solidFill>
                  </a:tcPr>
                </a:tc>
                <a:tc>
                  <a:txBody>
                    <a:bodyPr/>
                    <a:lstStyle/>
                    <a:p>
                      <a:r>
                        <a:rPr sz="1725" b="0">
                          <a:solidFill>
                            <a:srgbClr val="17384C"/>
                          </a:solidFill>
                        </a:rPr>
                        <a:t>Perturbation diagnostics</a:t>
                      </a:r>
                    </a:p>
                  </a:txBody>
                  <a:tcPr marL="91440" marR="91440" marT="45720" marB="45720">
                    <a:solidFill>
                      <a:srgbClr val="FFFFFF"/>
                    </a:solidFill>
                  </a:tcPr>
                </a:tc>
              </a:tr>
              <a:tr h="742950">
                <a:tc>
                  <a:txBody>
                    <a:bodyPr/>
                    <a:lstStyle/>
                    <a:p>
                      <a:r>
                        <a:rPr sz="1725" b="0">
                          <a:solidFill>
                            <a:srgbClr val="17384C"/>
                          </a:solidFill>
                        </a:rPr>
                        <a:t>Retrieval</a:t>
                      </a:r>
                    </a:p>
                  </a:txBody>
                  <a:tcPr marL="91440" marR="91440" marT="45720" marB="45720">
                    <a:solidFill>
                      <a:srgbClr val="EDF3F5"/>
                    </a:solidFill>
                  </a:tcPr>
                </a:tc>
                <a:tc>
                  <a:txBody>
                    <a:bodyPr/>
                    <a:lstStyle/>
                    <a:p>
                      <a:r>
                        <a:rPr sz="1725" b="0">
                          <a:solidFill>
                            <a:srgbClr val="17384C"/>
                          </a:solidFill>
                        </a:rPr>
                        <a:t>Efficient dot-product search</a:t>
                      </a:r>
                    </a:p>
                  </a:txBody>
                  <a:tcPr marL="91440" marR="91440" marT="45720" marB="45720">
                    <a:solidFill>
                      <a:srgbClr val="EDF3F5"/>
                    </a:solidFill>
                  </a:tcPr>
                </a:tc>
                <a:tc>
                  <a:txBody>
                    <a:bodyPr/>
                    <a:lstStyle/>
                    <a:p>
                      <a:r>
                        <a:rPr sz="1725" b="0">
                          <a:solidFill>
                            <a:srgbClr val="17384C"/>
                          </a:solidFill>
                        </a:rPr>
                        <a:t>Separate retrieval usually needed</a:t>
                      </a:r>
                    </a:p>
                  </a:txBody>
                  <a:tcPr marL="91440" marR="91440" marT="45720" marB="45720">
                    <a:solidFill>
                      <a:srgbClr val="EDF3F5"/>
                    </a:solidFill>
                  </a:tcPr>
                </a:tc>
              </a:tr>
              <a:tr h="742950">
                <a:tc>
                  <a:txBody>
                    <a:bodyPr/>
                    <a:lstStyle/>
                    <a:p>
                      <a:r>
                        <a:rPr sz="1725" b="0">
                          <a:solidFill>
                            <a:srgbClr val="17384C"/>
                          </a:solidFill>
                        </a:rPr>
                        <a:t>Cold start</a:t>
                      </a:r>
                    </a:p>
                  </a:txBody>
                  <a:tcPr marL="91440" marR="91440" marT="45720" marB="45720">
                    <a:solidFill>
                      <a:srgbClr val="FFFFFF"/>
                    </a:solidFill>
                  </a:tcPr>
                </a:tc>
                <a:tc>
                  <a:txBody>
                    <a:bodyPr/>
                    <a:lstStyle/>
                    <a:p>
                      <a:r>
                        <a:rPr sz="1725" b="0">
                          <a:solidFill>
                            <a:srgbClr val="17384C"/>
                          </a:solidFill>
                        </a:rPr>
                        <a:t>Requires fallback</a:t>
                      </a:r>
                    </a:p>
                  </a:txBody>
                  <a:tcPr marL="91440" marR="91440" marT="45720" marB="45720">
                    <a:solidFill>
                      <a:srgbClr val="FFFFFF"/>
                    </a:solidFill>
                  </a:tcPr>
                </a:tc>
                <a:tc>
                  <a:txBody>
                    <a:bodyPr/>
                    <a:lstStyle/>
                    <a:p>
                      <a:r>
                        <a:rPr sz="1725" b="0">
                          <a:solidFill>
                            <a:srgbClr val="17384C"/>
                          </a:solidFill>
                        </a:rPr>
                        <a:t>Requires fallback</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44401619"/>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D81A175-2150-43C9-8E7C-CEB06C59C58E}"/>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996F2DFF-CDDE-4FC2-82A4-E7DB7E0B20AD}"/>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Evaluation metrics</a:t>
            </a:r>
          </a:p>
        </p:txBody>
      </p:sp>
      <p:sp>
        <p:nvSpPr>
          <p:cNvPr id="4" name="">
            <a:extLst xmlns:a="http://schemas.openxmlformats.org/drawingml/2006/main">
              <a:ext uri="{FF2B5EF4-FFF2-40B4-BE49-F238E27FC236}">
                <a16:creationId xmlns:a16="http://schemas.microsoft.com/office/drawing/2014/main" id="{086ABD93-EA63-447F-A4D1-82634D5E5C44}"/>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D20B8421-D4BD-4A12-B980-5A5908541E5A}"/>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09</a:t>
            </a:r>
          </a:p>
        </p:txBody>
      </p:sp>
      <p:graphicFrame>
        <p:nvGraphicFramePr>
          <p:cNvPr id="6" name="">
            <a:extLst xmlns:a="http://schemas.openxmlformats.org/drawingml/2006/main">
              <a:ext uri="{FF2B5EF4-FFF2-40B4-BE49-F238E27FC236}">
                <a16:creationId xmlns:a16="http://schemas.microsoft.com/office/drawing/2014/main" id="{5D66F197-A825-4FE9-9EF7-C0B796DE5137}"/>
              </a:ext>
            </a:extLst>
          </p:cNvPr>
          <p:cNvGraphicFramePr/>
          <p:nvPr/>
        </p:nvGraphicFramePr>
        <p:xfrm>
          <a:off xmlns:a="http://schemas.openxmlformats.org/drawingml/2006/main" x="609600" y="2095500"/>
          <a:ext xmlns:a="http://schemas.openxmlformats.org/drawingml/2006/main" cx="10934700" cy="2762250"/>
        </p:xfrm>
        <a:graphic xmlns:a="http://schemas.openxmlformats.org/drawingml/2006/main">
          <a:graphicData uri="http://schemas.openxmlformats.org/drawingml/2006/table">
            <a:tbl>
              <a:tblPr/>
              <a:tblGrid>
                <a:gridCol w="5467350"/>
                <a:gridCol w="5467350"/>
              </a:tblGrid>
              <a:tr h="690563">
                <a:tc>
                  <a:txBody>
                    <a:bodyPr/>
                    <a:lstStyle/>
                    <a:p>
                      <a:r>
                        <a:rPr sz="1725" b="1">
                          <a:solidFill>
                            <a:srgbClr val="FFFFFF"/>
                          </a:solidFill>
                        </a:rPr>
                        <a:t>RMSE</a:t>
                      </a:r>
                    </a:p>
                  </a:txBody>
                  <a:tcPr marL="91440" marR="91440" marT="45720" marB="45720">
                    <a:solidFill>
                      <a:srgbClr val="17384C"/>
                    </a:solidFill>
                  </a:tcPr>
                </a:tc>
                <a:tc>
                  <a:txBody>
                    <a:bodyPr/>
                    <a:lstStyle/>
                    <a:p>
                      <a:r>
                        <a:rPr sz="1725" b="1">
                          <a:solidFill>
                            <a:srgbClr val="FFFFFF"/>
                          </a:solidFill>
                        </a:rPr>
                        <a:t>Sampled NDCG@10</a:t>
                      </a:r>
                    </a:p>
                  </a:txBody>
                  <a:tcPr marL="91440" marR="91440" marT="45720" marB="45720">
                    <a:solidFill>
                      <a:srgbClr val="17384C"/>
                    </a:solidFill>
                  </a:tcPr>
                </a:tc>
              </a:tr>
              <a:tr h="690563">
                <a:tc>
                  <a:txBody>
                    <a:bodyPr/>
                    <a:lstStyle/>
                    <a:p>
                      <a:r>
                        <a:rPr sz="1725" b="0">
                          <a:solidFill>
                            <a:srgbClr val="17384C"/>
                          </a:solidFill>
                        </a:rPr>
                        <a:t>Rating prediction error</a:t>
                      </a:r>
                    </a:p>
                  </a:txBody>
                  <a:tcPr marL="91440" marR="91440" marT="45720" marB="45720">
                    <a:solidFill>
                      <a:srgbClr val="EDF3F5"/>
                    </a:solidFill>
                  </a:tcPr>
                </a:tc>
                <a:tc>
                  <a:txBody>
                    <a:bodyPr/>
                    <a:lstStyle/>
                    <a:p>
                      <a:r>
                        <a:rPr sz="1725" b="0">
                          <a:solidFill>
                            <a:srgbClr val="17384C"/>
                          </a:solidFill>
                        </a:rPr>
                        <a:t>Ranking of held-out relevant films</a:t>
                      </a:r>
                    </a:p>
                  </a:txBody>
                  <a:tcPr marL="91440" marR="91440" marT="45720" marB="45720">
                    <a:solidFill>
                      <a:srgbClr val="EDF3F5"/>
                    </a:solidFill>
                  </a:tcPr>
                </a:tc>
              </a:tr>
              <a:tr h="690563">
                <a:tc>
                  <a:txBody>
                    <a:bodyPr/>
                    <a:lstStyle/>
                    <a:p>
                      <a:r>
                        <a:rPr sz="1725" b="0">
                          <a:solidFill>
                            <a:srgbClr val="17384C"/>
                          </a:solidFill>
                        </a:rPr>
                        <a:t>Lower is better</a:t>
                      </a:r>
                    </a:p>
                  </a:txBody>
                  <a:tcPr marL="91440" marR="91440" marT="45720" marB="45720">
                    <a:solidFill>
                      <a:srgbClr val="FFFFFF"/>
                    </a:solidFill>
                  </a:tcPr>
                </a:tc>
                <a:tc>
                  <a:txBody>
                    <a:bodyPr/>
                    <a:lstStyle/>
                    <a:p>
                      <a:r>
                        <a:rPr sz="1725" b="0">
                          <a:solidFill>
                            <a:srgbClr val="17384C"/>
                          </a:solidFill>
                        </a:rPr>
                        <a:t>Higher is better</a:t>
                      </a:r>
                    </a:p>
                  </a:txBody>
                  <a:tcPr marL="91440" marR="91440" marT="45720" marB="45720">
                    <a:solidFill>
                      <a:srgbClr val="FFFFFF"/>
                    </a:solidFill>
                  </a:tcPr>
                </a:tc>
              </a:tr>
              <a:tr h="690563">
                <a:tc>
                  <a:txBody>
                    <a:bodyPr/>
                    <a:lstStyle/>
                    <a:p>
                      <a:r>
                        <a:rPr sz="1725" b="0">
                          <a:solidFill>
                            <a:srgbClr val="17384C"/>
                          </a:solidFill>
                        </a:rPr>
                        <a:t>Penalises large mistakes</a:t>
                      </a:r>
                    </a:p>
                  </a:txBody>
                  <a:tcPr marL="91440" marR="91440" marT="45720" marB="45720">
                    <a:solidFill>
                      <a:srgbClr val="EDF3F5"/>
                    </a:solidFill>
                  </a:tcPr>
                </a:tc>
                <a:tc>
                  <a:txBody>
                    <a:bodyPr/>
                    <a:lstStyle/>
                    <a:p>
                      <a:r>
                        <a:rPr sz="1725" b="0">
                          <a:solidFill>
                            <a:srgbClr val="17384C"/>
                          </a:solidFill>
                        </a:rPr>
                        <a:t>Rewards relevance near the top</a:t>
                      </a:r>
                    </a:p>
                  </a:txBody>
                  <a:tcPr marL="91440" marR="91440" marT="45720" marB="45720">
                    <a:solidFill>
                      <a:srgbClr val="EDF3F5"/>
                    </a:solidFill>
                  </a:tcPr>
                </a:tc>
              </a:tr>
            </a:tbl>
          </a:graphicData>
        </a:graphic>
      </p:graphicFrame>
      <p:sp>
        <p:nvSpPr>
          <p:cNvPr id="7" name="">
            <a:extLst xmlns:a="http://schemas.openxmlformats.org/drawingml/2006/main">
              <a:ext uri="{FF2B5EF4-FFF2-40B4-BE49-F238E27FC236}">
                <a16:creationId xmlns:a16="http://schemas.microsoft.com/office/drawing/2014/main" id="{8892DEEB-9868-4EF5-A4E5-6764B002EF89}"/>
              </a:ext>
            </a:extLst>
          </p:cNvPr>
          <p:cNvSpPr>
            <a:spLocks xmlns:a="http://schemas.openxmlformats.org/drawingml/2006/main" noGrp="1"/>
          </p:cNvSpPr>
          <p:nvPr/>
        </p:nvSpPr>
        <p:spPr>
          <a:xfrm xmlns:a="http://schemas.openxmlformats.org/drawingml/2006/main">
            <a:off x="685800" y="52387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47D86"/>
                </a:solidFill>
              </a:defRPr>
            </a:defPPr>
            <a:lvl1pPr>
              <a:defRPr sz="2100" b="1">
                <a:solidFill>
                  <a:srgbClr val="147D86"/>
                </a:solidFill>
              </a:defRPr>
            </a:lvl1pPr>
            <a:lvl2pPr>
              <a:defRPr sz="2100" b="1">
                <a:solidFill>
                  <a:srgbClr val="147D86"/>
                </a:solidFill>
              </a:defRPr>
            </a:lvl2pPr>
            <a:lvl3pPr>
              <a:defRPr sz="2100" b="1">
                <a:solidFill>
                  <a:srgbClr val="147D86"/>
                </a:solidFill>
              </a:defRPr>
            </a:lvl3pPr>
            <a:lvl4pPr>
              <a:defRPr sz="2100" b="1">
                <a:solidFill>
                  <a:srgbClr val="147D86"/>
                </a:solidFill>
              </a:defRPr>
            </a:lvl4pPr>
            <a:lvl5pPr>
              <a:defRPr sz="2100" b="1">
                <a:solidFill>
                  <a:srgbClr val="147D86"/>
                </a:solidFill>
              </a:defRPr>
            </a:lvl5pPr>
            <a:lvl6pPr>
              <a:defRPr sz="2100" b="1">
                <a:solidFill>
                  <a:srgbClr val="147D86"/>
                </a:solidFill>
              </a:defRPr>
            </a:lvl6pPr>
            <a:lvl7pPr>
              <a:defRPr sz="2100" b="1">
                <a:solidFill>
                  <a:srgbClr val="147D86"/>
                </a:solidFill>
              </a:defRPr>
            </a:lvl7pPr>
            <a:lvl8pPr>
              <a:defRPr sz="2100" b="1">
                <a:solidFill>
                  <a:srgbClr val="147D86"/>
                </a:solidFill>
              </a:defRPr>
            </a:lvl8pPr>
            <a:lvl9pPr>
              <a:defRPr sz="2100" b="1">
                <a:solidFill>
                  <a:srgbClr val="147D86"/>
                </a:solidFill>
              </a:defRPr>
            </a:lvl9pPr>
          </a:lstStyle>
          <a:p xmlns:a="http://schemas.openxmlformats.org/drawingml/2006/main">
            <a:pPr>
              <a:defRPr sz="2100" b="1">
                <a:solidFill>
                  <a:srgbClr val="147D86"/>
                </a:solidFill>
              </a:defRPr>
            </a:pPr>
            <a:r>
              <a:rPr sz="2100" b="1">
                <a:solidFill>
                  <a:srgbClr val="147D86"/>
                </a:solidFill>
              </a:rPr>
              <a:t>Relevant rating ≥ 4; up to 100 unrated candidates per user</a:t>
            </a:r>
          </a:p>
        </p:txBody>
      </p:sp>
      <p:sp>
        <p:nvSpPr>
          <p:cNvPr id="8" name="">
            <a:extLst xmlns:a="http://schemas.openxmlformats.org/drawingml/2006/main">
              <a:ext uri="{FF2B5EF4-FFF2-40B4-BE49-F238E27FC236}">
                <a16:creationId xmlns:a16="http://schemas.microsoft.com/office/drawing/2014/main" id="{F8CDBAD3-E3B3-4EBB-A0BC-2EF1A2E6BBA1}"/>
              </a:ext>
            </a:extLst>
          </p:cNvPr>
          <p:cNvSpPr>
            <a:spLocks xmlns:a="http://schemas.openxmlformats.org/drawingml/2006/main" noGrp="1"/>
          </p:cNvSpPr>
          <p:nvPr/>
        </p:nvSpPr>
        <p:spPr>
          <a:xfrm xmlns:a="http://schemas.openxmlformats.org/drawingml/2006/main">
            <a:off x="685800" y="58578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2616C"/>
                </a:solidFill>
              </a:defRPr>
            </a:defPPr>
            <a:lvl1pPr>
              <a:defRPr sz="1725" b="0">
                <a:solidFill>
                  <a:srgbClr val="52616C"/>
                </a:solidFill>
              </a:defRPr>
            </a:lvl1pPr>
            <a:lvl2pPr>
              <a:defRPr sz="1725" b="0">
                <a:solidFill>
                  <a:srgbClr val="52616C"/>
                </a:solidFill>
              </a:defRPr>
            </a:lvl2pPr>
            <a:lvl3pPr>
              <a:defRPr sz="1725" b="0">
                <a:solidFill>
                  <a:srgbClr val="52616C"/>
                </a:solidFill>
              </a:defRPr>
            </a:lvl3pPr>
            <a:lvl4pPr>
              <a:defRPr sz="1725" b="0">
                <a:solidFill>
                  <a:srgbClr val="52616C"/>
                </a:solidFill>
              </a:defRPr>
            </a:lvl4pPr>
            <a:lvl5pPr>
              <a:defRPr sz="1725" b="0">
                <a:solidFill>
                  <a:srgbClr val="52616C"/>
                </a:solidFill>
              </a:defRPr>
            </a:lvl5pPr>
            <a:lvl6pPr>
              <a:defRPr sz="1725" b="0">
                <a:solidFill>
                  <a:srgbClr val="52616C"/>
                </a:solidFill>
              </a:defRPr>
            </a:lvl6pPr>
            <a:lvl7pPr>
              <a:defRPr sz="1725" b="0">
                <a:solidFill>
                  <a:srgbClr val="52616C"/>
                </a:solidFill>
              </a:defRPr>
            </a:lvl7pPr>
            <a:lvl8pPr>
              <a:defRPr sz="1725" b="0">
                <a:solidFill>
                  <a:srgbClr val="52616C"/>
                </a:solidFill>
              </a:defRPr>
            </a:lvl8pPr>
            <a:lvl9pPr>
              <a:defRPr sz="1725" b="0">
                <a:solidFill>
                  <a:srgbClr val="52616C"/>
                </a:solidFill>
              </a:defRPr>
            </a:lvl9pPr>
          </a:lstStyle>
          <a:p xmlns:a="http://schemas.openxmlformats.org/drawingml/2006/main">
            <a:pPr>
              <a:defRPr sz="1725" b="0">
                <a:solidFill>
                  <a:srgbClr val="52616C"/>
                </a:solidFill>
              </a:defRPr>
            </a:pPr>
            <a:r>
              <a:rPr sz="1725" b="0">
                <a:solidFill>
                  <a:srgbClr val="52616C"/>
                </a:solidFill>
              </a:rPr>
              <a:t>Unrated candidates are unlabelled. Report eligible users and seed.</a:t>
            </a:r>
          </a:p>
        </p:txBody>
      </p:sp>
    </p:spTree>
    <p:extLst>
      <p:ext uri="{BB962C8B-B14F-4D97-AF65-F5344CB8AC3E}">
        <p14:creationId xmlns:p14="http://schemas.microsoft.com/office/powerpoint/2010/main" val="129148513"/>
      </p:ext>
    </p:extLst>
  </p:cSld>
</p:sld>
</file>

<file path=ppt/slides/slide1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EE4CAEA-75A8-4832-BAD9-28A389067F17}"/>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F9EEF6FD-8E84-41EB-AB93-200B3A285DEB}"/>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Results and model demonstration</a:t>
            </a:r>
          </a:p>
        </p:txBody>
      </p:sp>
      <p:sp>
        <p:nvSpPr>
          <p:cNvPr id="4" name="">
            <a:extLst xmlns:a="http://schemas.openxmlformats.org/drawingml/2006/main">
              <a:ext uri="{FF2B5EF4-FFF2-40B4-BE49-F238E27FC236}">
                <a16:creationId xmlns:a16="http://schemas.microsoft.com/office/drawing/2014/main" id="{8FA8A5ED-EB7E-4E6E-B4DE-CA03C4B26D90}"/>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413B79AF-CB5C-43B8-8FC5-D0EECE78F9AF}"/>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10</a:t>
            </a:r>
          </a:p>
        </p:txBody>
      </p:sp>
      <p:graphicFrame>
        <p:nvGraphicFramePr>
          <p:cNvPr id="6" name="">
            <a:extLst xmlns:a="http://schemas.openxmlformats.org/drawingml/2006/main">
              <a:ext uri="{FF2B5EF4-FFF2-40B4-BE49-F238E27FC236}">
                <a16:creationId xmlns:a16="http://schemas.microsoft.com/office/drawing/2014/main" id="{0E9852DE-3C7B-4A73-B472-97655EC49849}"/>
              </a:ext>
            </a:extLst>
          </p:cNvPr>
          <p:cNvGraphicFramePr/>
          <p:nvPr/>
        </p:nvGraphicFramePr>
        <p:xfrm>
          <a:off xmlns:a="http://schemas.openxmlformats.org/drawingml/2006/main" x="609600" y="2047875"/>
          <a:ext xmlns:a="http://schemas.openxmlformats.org/drawingml/2006/main" cx="10934700" cy="2857500"/>
        </p:xfrm>
        <a:graphic xmlns:a="http://schemas.openxmlformats.org/drawingml/2006/main">
          <a:graphicData uri="http://schemas.openxmlformats.org/drawingml/2006/table">
            <a:tbl>
              <a:tblPr/>
              <a:tblGrid>
                <a:gridCol w="3644900"/>
                <a:gridCol w="3644900"/>
                <a:gridCol w="3644900"/>
              </a:tblGrid>
              <a:tr h="714375">
                <a:tc>
                  <a:txBody>
                    <a:bodyPr/>
                    <a:lstStyle/>
                    <a:p>
                      <a:r>
                        <a:rPr sz="1725" b="1">
                          <a:solidFill>
                            <a:srgbClr val="FFFFFF"/>
                          </a:solidFill>
                        </a:rPr>
                        <a:t>Evidence</a:t>
                      </a:r>
                    </a:p>
                  </a:txBody>
                  <a:tcPr marL="91440" marR="91440" marT="45720" marB="45720">
                    <a:solidFill>
                      <a:srgbClr val="17384C"/>
                    </a:solidFill>
                  </a:tcPr>
                </a:tc>
                <a:tc>
                  <a:txBody>
                    <a:bodyPr/>
                    <a:lstStyle/>
                    <a:p>
                      <a:r>
                        <a:rPr sz="1725" b="1">
                          <a:solidFill>
                            <a:srgbClr val="FFFFFF"/>
                          </a:solidFill>
                        </a:rPr>
                        <a:t>Matrix factorisation</a:t>
                      </a:r>
                    </a:p>
                  </a:txBody>
                  <a:tcPr marL="91440" marR="91440" marT="45720" marB="45720">
                    <a:solidFill>
                      <a:srgbClr val="17384C"/>
                    </a:solidFill>
                  </a:tcPr>
                </a:tc>
                <a:tc>
                  <a:txBody>
                    <a:bodyPr/>
                    <a:lstStyle/>
                    <a:p>
                      <a:r>
                        <a:rPr sz="1725" b="1">
                          <a:solidFill>
                            <a:srgbClr val="FFFFFF"/>
                          </a:solidFill>
                        </a:rPr>
                        <a:t>Neural model</a:t>
                      </a:r>
                    </a:p>
                  </a:txBody>
                  <a:tcPr marL="91440" marR="91440" marT="45720" marB="45720">
                    <a:solidFill>
                      <a:srgbClr val="17384C"/>
                    </a:solidFill>
                  </a:tcPr>
                </a:tc>
              </a:tr>
              <a:tr h="714375">
                <a:tc>
                  <a:txBody>
                    <a:bodyPr/>
                    <a:lstStyle/>
                    <a:p>
                      <a:r>
                        <a:rPr sz="1725" b="0">
                          <a:solidFill>
                            <a:srgbClr val="17384C"/>
                          </a:solidFill>
                        </a:rPr>
                        <a:t>Test RMSE</a:t>
                      </a:r>
                    </a:p>
                  </a:txBody>
                  <a:tcPr marL="91440" marR="91440" marT="45720" marB="45720">
                    <a:solidFill>
                      <a:srgbClr val="EDF3F5"/>
                    </a:solidFill>
                  </a:tcPr>
                </a:tc>
                <a:tc>
                  <a:txBody>
                    <a:bodyPr/>
                    <a:lstStyle/>
                    <a:p>
                      <a:r>
                        <a:rPr sz="1725" b="0">
                          <a:solidFill>
                            <a:srgbClr val="17384C"/>
                          </a:solidFill>
                        </a:rPr>
                        <a:t>Awaiting executed output</a:t>
                      </a:r>
                    </a:p>
                  </a:txBody>
                  <a:tcPr marL="91440" marR="91440" marT="45720" marB="45720">
                    <a:solidFill>
                      <a:srgbClr val="EDF3F5"/>
                    </a:solidFill>
                  </a:tcPr>
                </a:tc>
                <a:tc>
                  <a:txBody>
                    <a:bodyPr/>
                    <a:lstStyle/>
                    <a:p>
                      <a:r>
                        <a:rPr sz="1725" b="0">
                          <a:solidFill>
                            <a:srgbClr val="17384C"/>
                          </a:solidFill>
                        </a:rPr>
                        <a:t>Awaiting executed output</a:t>
                      </a:r>
                    </a:p>
                  </a:txBody>
                  <a:tcPr marL="91440" marR="91440" marT="45720" marB="45720">
                    <a:solidFill>
                      <a:srgbClr val="EDF3F5"/>
                    </a:solidFill>
                  </a:tcPr>
                </a:tc>
              </a:tr>
              <a:tr h="714375">
                <a:tc>
                  <a:txBody>
                    <a:bodyPr/>
                    <a:lstStyle/>
                    <a:p>
                      <a:r>
                        <a:rPr sz="1725" b="0">
                          <a:solidFill>
                            <a:srgbClr val="17384C"/>
                          </a:solidFill>
                        </a:rPr>
                        <a:t>Sampled NDCG@10</a:t>
                      </a:r>
                    </a:p>
                  </a:txBody>
                  <a:tcPr marL="91440" marR="91440" marT="45720" marB="45720">
                    <a:solidFill>
                      <a:srgbClr val="FFFFFF"/>
                    </a:solidFill>
                  </a:tcPr>
                </a:tc>
                <a:tc>
                  <a:txBody>
                    <a:bodyPr/>
                    <a:lstStyle/>
                    <a:p>
                      <a:r>
                        <a:rPr sz="1725" b="0">
                          <a:solidFill>
                            <a:srgbClr val="17384C"/>
                          </a:solidFill>
                        </a:rPr>
                        <a:t>Awaiting executed output</a:t>
                      </a:r>
                    </a:p>
                  </a:txBody>
                  <a:tcPr marL="91440" marR="91440" marT="45720" marB="45720">
                    <a:solidFill>
                      <a:srgbClr val="FFFFFF"/>
                    </a:solidFill>
                  </a:tcPr>
                </a:tc>
                <a:tc>
                  <a:txBody>
                    <a:bodyPr/>
                    <a:lstStyle/>
                    <a:p>
                      <a:r>
                        <a:rPr sz="1725" b="0">
                          <a:solidFill>
                            <a:srgbClr val="17384C"/>
                          </a:solidFill>
                        </a:rPr>
                        <a:t>Awaiting executed output</a:t>
                      </a:r>
                    </a:p>
                  </a:txBody>
                  <a:tcPr marL="91440" marR="91440" marT="45720" marB="45720">
                    <a:solidFill>
                      <a:srgbClr val="FFFFFF"/>
                    </a:solidFill>
                  </a:tcPr>
                </a:tc>
              </a:tr>
              <a:tr h="714375">
                <a:tc>
                  <a:txBody>
                    <a:bodyPr/>
                    <a:lstStyle/>
                    <a:p>
                      <a:r>
                        <a:rPr sz="1725" b="0">
                          <a:solidFill>
                            <a:srgbClr val="17384C"/>
                          </a:solidFill>
                        </a:rPr>
                        <a:t>Fold variation</a:t>
                      </a:r>
                    </a:p>
                  </a:txBody>
                  <a:tcPr marL="91440" marR="91440" marT="45720" marB="45720">
                    <a:solidFill>
                      <a:srgbClr val="EDF3F5"/>
                    </a:solidFill>
                  </a:tcPr>
                </a:tc>
                <a:tc>
                  <a:txBody>
                    <a:bodyPr/>
                    <a:lstStyle/>
                    <a:p>
                      <a:r>
                        <a:rPr sz="1725" b="0">
                          <a:solidFill>
                            <a:srgbClr val="17384C"/>
                          </a:solidFill>
                        </a:rPr>
                        <a:t>Awaiting executed output</a:t>
                      </a:r>
                    </a:p>
                  </a:txBody>
                  <a:tcPr marL="91440" marR="91440" marT="45720" marB="45720">
                    <a:solidFill>
                      <a:srgbClr val="EDF3F5"/>
                    </a:solidFill>
                  </a:tcPr>
                </a:tc>
                <a:tc>
                  <a:txBody>
                    <a:bodyPr/>
                    <a:lstStyle/>
                    <a:p>
                      <a:r>
                        <a:rPr sz="1725" b="0">
                          <a:solidFill>
                            <a:srgbClr val="17384C"/>
                          </a:solidFill>
                        </a:rPr>
                        <a:t>Awaiting executed output</a:t>
                      </a:r>
                    </a:p>
                  </a:txBody>
                  <a:tcPr marL="91440" marR="91440" marT="45720" marB="45720">
                    <a:solidFill>
                      <a:srgbClr val="EDF3F5"/>
                    </a:solidFill>
                  </a:tcPr>
                </a:tc>
              </a:tr>
            </a:tbl>
          </a:graphicData>
        </a:graphic>
      </p:graphicFrame>
      <p:sp>
        <p:nvSpPr>
          <p:cNvPr id="7" name="">
            <a:extLst xmlns:a="http://schemas.openxmlformats.org/drawingml/2006/main">
              <a:ext uri="{FF2B5EF4-FFF2-40B4-BE49-F238E27FC236}">
                <a16:creationId xmlns:a16="http://schemas.microsoft.com/office/drawing/2014/main" id="{ED30508F-E26D-4965-B8FD-F4E55F34488A}"/>
              </a:ext>
            </a:extLst>
          </p:cNvPr>
          <p:cNvSpPr>
            <a:spLocks xmlns:a="http://schemas.openxmlformats.org/drawingml/2006/main" noGrp="1"/>
          </p:cNvSpPr>
          <p:nvPr/>
        </p:nvSpPr>
        <p:spPr>
          <a:xfrm xmlns:a="http://schemas.openxmlformats.org/drawingml/2006/main">
            <a:off x="685800" y="5286375"/>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7D86"/>
                </a:solidFill>
              </a:defRPr>
            </a:defPPr>
            <a:lvl1pPr>
              <a:defRPr sz="2175" b="1">
                <a:solidFill>
                  <a:srgbClr val="147D86"/>
                </a:solidFill>
              </a:defRPr>
            </a:lvl1pPr>
            <a:lvl2pPr>
              <a:defRPr sz="2175" b="1">
                <a:solidFill>
                  <a:srgbClr val="147D86"/>
                </a:solidFill>
              </a:defRPr>
            </a:lvl2pPr>
            <a:lvl3pPr>
              <a:defRPr sz="2175" b="1">
                <a:solidFill>
                  <a:srgbClr val="147D86"/>
                </a:solidFill>
              </a:defRPr>
            </a:lvl3pPr>
            <a:lvl4pPr>
              <a:defRPr sz="2175" b="1">
                <a:solidFill>
                  <a:srgbClr val="147D86"/>
                </a:solidFill>
              </a:defRPr>
            </a:lvl4pPr>
            <a:lvl5pPr>
              <a:defRPr sz="2175" b="1">
                <a:solidFill>
                  <a:srgbClr val="147D86"/>
                </a:solidFill>
              </a:defRPr>
            </a:lvl5pPr>
            <a:lvl6pPr>
              <a:defRPr sz="2175" b="1">
                <a:solidFill>
                  <a:srgbClr val="147D86"/>
                </a:solidFill>
              </a:defRPr>
            </a:lvl6pPr>
            <a:lvl7pPr>
              <a:defRPr sz="2175" b="1">
                <a:solidFill>
                  <a:srgbClr val="147D86"/>
                </a:solidFill>
              </a:defRPr>
            </a:lvl7pPr>
            <a:lvl8pPr>
              <a:defRPr sz="2175" b="1">
                <a:solidFill>
                  <a:srgbClr val="147D86"/>
                </a:solidFill>
              </a:defRPr>
            </a:lvl8pPr>
            <a:lvl9pPr>
              <a:defRPr sz="2175" b="1">
                <a:solidFill>
                  <a:srgbClr val="147D86"/>
                </a:solidFill>
              </a:defRPr>
            </a:lvl9pPr>
          </a:lstStyle>
          <a:p xmlns:a="http://schemas.openxmlformats.org/drawingml/2006/main">
            <a:pPr>
              <a:defRPr sz="2175" b="1">
                <a:solidFill>
                  <a:srgbClr val="147D86"/>
                </a:solidFill>
              </a:defRPr>
            </a:pPr>
            <a:r>
              <a:rPr sz="2175" b="1">
                <a:solidFill>
                  <a:srgbClr val="147D86"/>
                </a:solidFill>
              </a:rPr>
              <a:t>Demonstration: one user, two predictions, one ranked list</a:t>
            </a:r>
          </a:p>
        </p:txBody>
      </p:sp>
      <p:sp>
        <p:nvSpPr>
          <p:cNvPr id="8" name="">
            <a:extLst xmlns:a="http://schemas.openxmlformats.org/drawingml/2006/main">
              <a:ext uri="{FF2B5EF4-FFF2-40B4-BE49-F238E27FC236}">
                <a16:creationId xmlns:a16="http://schemas.microsoft.com/office/drawing/2014/main" id="{D000E909-7D03-47BB-B81A-536759A84144}"/>
              </a:ext>
            </a:extLst>
          </p:cNvPr>
          <p:cNvSpPr>
            <a:spLocks xmlns:a="http://schemas.openxmlformats.org/drawingml/2006/main" noGrp="1"/>
          </p:cNvSpPr>
          <p:nvPr/>
        </p:nvSpPr>
        <p:spPr>
          <a:xfrm xmlns:a="http://schemas.openxmlformats.org/drawingml/2006/main">
            <a:off x="685800" y="58578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16C"/>
                </a:solidFill>
              </a:defRPr>
            </a:defPPr>
            <a:lvl1pPr>
              <a:defRPr sz="1800" b="0">
                <a:solidFill>
                  <a:srgbClr val="52616C"/>
                </a:solidFill>
              </a:defRPr>
            </a:lvl1pPr>
            <a:lvl2pPr>
              <a:defRPr sz="1800" b="0">
                <a:solidFill>
                  <a:srgbClr val="52616C"/>
                </a:solidFill>
              </a:defRPr>
            </a:lvl2pPr>
            <a:lvl3pPr>
              <a:defRPr sz="1800" b="0">
                <a:solidFill>
                  <a:srgbClr val="52616C"/>
                </a:solidFill>
              </a:defRPr>
            </a:lvl3pPr>
            <a:lvl4pPr>
              <a:defRPr sz="1800" b="0">
                <a:solidFill>
                  <a:srgbClr val="52616C"/>
                </a:solidFill>
              </a:defRPr>
            </a:lvl4pPr>
            <a:lvl5pPr>
              <a:defRPr sz="1800" b="0">
                <a:solidFill>
                  <a:srgbClr val="52616C"/>
                </a:solidFill>
              </a:defRPr>
            </a:lvl5pPr>
            <a:lvl6pPr>
              <a:defRPr sz="1800" b="0">
                <a:solidFill>
                  <a:srgbClr val="52616C"/>
                </a:solidFill>
              </a:defRPr>
            </a:lvl6pPr>
            <a:lvl7pPr>
              <a:defRPr sz="1800" b="0">
                <a:solidFill>
                  <a:srgbClr val="52616C"/>
                </a:solidFill>
              </a:defRPr>
            </a:lvl7pPr>
            <a:lvl8pPr>
              <a:defRPr sz="1800" b="0">
                <a:solidFill>
                  <a:srgbClr val="52616C"/>
                </a:solidFill>
              </a:defRPr>
            </a:lvl8pPr>
            <a:lvl9pPr>
              <a:defRPr sz="1800" b="0">
                <a:solidFill>
                  <a:srgbClr val="52616C"/>
                </a:solidFill>
              </a:defRPr>
            </a:lvl9pPr>
          </a:lstStyle>
          <a:p xmlns:a="http://schemas.openxmlformats.org/drawingml/2006/main">
            <a:pPr>
              <a:defRPr sz="1800" b="0">
                <a:solidFill>
                  <a:srgbClr val="52616C"/>
                </a:solidFill>
              </a:defRPr>
            </a:pPr>
            <a:r>
              <a:rPr sz="1800" b="0">
                <a:solidFill>
                  <a:srgbClr val="52616C"/>
                </a:solidFill>
              </a:rPr>
              <a:t>No measured winner can be established from the available outputs.</a:t>
            </a:r>
          </a:p>
        </p:txBody>
      </p:sp>
    </p:spTree>
    <p:extLst>
      <p:ext uri="{BB962C8B-B14F-4D97-AF65-F5344CB8AC3E}">
        <p14:creationId xmlns:p14="http://schemas.microsoft.com/office/powerpoint/2010/main" val="940120859"/>
      </p:ext>
    </p:extLst>
  </p:cSld>
</p:sld>
</file>

<file path=ppt/slides/slide1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E4B3815-01FC-4887-96F0-D0533548E50A}"/>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B59D4B39-6079-43D5-9D35-4F18A653431C}"/>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Explainability</a:t>
            </a:r>
          </a:p>
        </p:txBody>
      </p:sp>
      <p:sp>
        <p:nvSpPr>
          <p:cNvPr id="4" name="">
            <a:extLst xmlns:a="http://schemas.openxmlformats.org/drawingml/2006/main">
              <a:ext uri="{FF2B5EF4-FFF2-40B4-BE49-F238E27FC236}">
                <a16:creationId xmlns:a16="http://schemas.microsoft.com/office/drawing/2014/main" id="{475B98C3-A78F-482A-84F6-9A6F699FC1D1}"/>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2E104EA9-D8D5-496F-94DC-BBC13E4C8947}"/>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11</a:t>
            </a:r>
          </a:p>
        </p:txBody>
      </p:sp>
      <p:sp>
        <p:nvSpPr>
          <p:cNvPr id="6" name="">
            <a:extLst xmlns:a="http://schemas.openxmlformats.org/drawingml/2006/main">
              <a:ext uri="{FF2B5EF4-FFF2-40B4-BE49-F238E27FC236}">
                <a16:creationId xmlns:a16="http://schemas.microsoft.com/office/drawing/2014/main" id="{4E8CE7E7-9F85-4B9A-8FCE-A9C1C4F525C2}"/>
              </a:ext>
            </a:extLst>
          </p:cNvPr>
          <p:cNvSpPr>
            <a:spLocks xmlns:a="http://schemas.openxmlformats.org/drawingml/2006/main" noGrp="1"/>
          </p:cNvSpPr>
          <p:nvPr/>
        </p:nvSpPr>
        <p:spPr>
          <a:xfrm xmlns:a="http://schemas.openxmlformats.org/drawingml/2006/main">
            <a:off x="609600" y="2286000"/>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MF score</a:t>
            </a:r>
          </a:p>
        </p:txBody>
      </p:sp>
      <p:sp>
        <p:nvSpPr>
          <p:cNvPr id="7" name="">
            <a:extLst xmlns:a="http://schemas.openxmlformats.org/drawingml/2006/main">
              <a:ext uri="{FF2B5EF4-FFF2-40B4-BE49-F238E27FC236}">
                <a16:creationId xmlns:a16="http://schemas.microsoft.com/office/drawing/2014/main" id="{DFEB16AF-E2D5-465C-9DD0-434E07172D54}"/>
              </a:ext>
            </a:extLst>
          </p:cNvPr>
          <p:cNvSpPr>
            <a:spLocks xmlns:a="http://schemas.openxmlformats.org/drawingml/2006/main" noGrp="1"/>
          </p:cNvSpPr>
          <p:nvPr/>
        </p:nvSpPr>
        <p:spPr>
          <a:xfrm xmlns:a="http://schemas.openxmlformats.org/drawingml/2006/main">
            <a:off x="3105150" y="2543175"/>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8" name="">
            <a:extLst xmlns:a="http://schemas.openxmlformats.org/drawingml/2006/main">
              <a:ext uri="{FF2B5EF4-FFF2-40B4-BE49-F238E27FC236}">
                <a16:creationId xmlns:a16="http://schemas.microsoft.com/office/drawing/2014/main" id="{E03FCDDE-96E3-460D-BC31-0803F39F8090}"/>
              </a:ext>
            </a:extLst>
          </p:cNvPr>
          <p:cNvSpPr>
            <a:spLocks xmlns:a="http://schemas.openxmlformats.org/drawingml/2006/main" noGrp="1"/>
          </p:cNvSpPr>
          <p:nvPr/>
        </p:nvSpPr>
        <p:spPr>
          <a:xfrm xmlns:a="http://schemas.openxmlformats.org/drawingml/2006/main">
            <a:off x="3343275" y="2286000"/>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Bias terms</a:t>
            </a:r>
          </a:p>
        </p:txBody>
      </p:sp>
      <p:sp>
        <p:nvSpPr>
          <p:cNvPr id="9" name="">
            <a:extLst xmlns:a="http://schemas.openxmlformats.org/drawingml/2006/main">
              <a:ext uri="{FF2B5EF4-FFF2-40B4-BE49-F238E27FC236}">
                <a16:creationId xmlns:a16="http://schemas.microsoft.com/office/drawing/2014/main" id="{0E47A557-639C-46EE-8412-1DF3B0C97135}"/>
              </a:ext>
            </a:extLst>
          </p:cNvPr>
          <p:cNvSpPr>
            <a:spLocks xmlns:a="http://schemas.openxmlformats.org/drawingml/2006/main" noGrp="1"/>
          </p:cNvSpPr>
          <p:nvPr/>
        </p:nvSpPr>
        <p:spPr>
          <a:xfrm xmlns:a="http://schemas.openxmlformats.org/drawingml/2006/main">
            <a:off x="5838825" y="2543175"/>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10" name="">
            <a:extLst xmlns:a="http://schemas.openxmlformats.org/drawingml/2006/main">
              <a:ext uri="{FF2B5EF4-FFF2-40B4-BE49-F238E27FC236}">
                <a16:creationId xmlns:a16="http://schemas.microsoft.com/office/drawing/2014/main" id="{45CE971A-FF28-40EC-9FAD-9C42D98DDA5D}"/>
              </a:ext>
            </a:extLst>
          </p:cNvPr>
          <p:cNvSpPr>
            <a:spLocks xmlns:a="http://schemas.openxmlformats.org/drawingml/2006/main" noGrp="1"/>
          </p:cNvSpPr>
          <p:nvPr/>
        </p:nvSpPr>
        <p:spPr>
          <a:xfrm xmlns:a="http://schemas.openxmlformats.org/drawingml/2006/main">
            <a:off x="6076950" y="2286000"/>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Latent interaction</a:t>
            </a:r>
          </a:p>
        </p:txBody>
      </p:sp>
      <p:sp>
        <p:nvSpPr>
          <p:cNvPr id="11" name="">
            <a:extLst xmlns:a="http://schemas.openxmlformats.org/drawingml/2006/main">
              <a:ext uri="{FF2B5EF4-FFF2-40B4-BE49-F238E27FC236}">
                <a16:creationId xmlns:a16="http://schemas.microsoft.com/office/drawing/2014/main" id="{36BD41E3-20EF-4E6B-B44D-584463B76B9D}"/>
              </a:ext>
            </a:extLst>
          </p:cNvPr>
          <p:cNvSpPr>
            <a:spLocks xmlns:a="http://schemas.openxmlformats.org/drawingml/2006/main" noGrp="1"/>
          </p:cNvSpPr>
          <p:nvPr/>
        </p:nvSpPr>
        <p:spPr>
          <a:xfrm xmlns:a="http://schemas.openxmlformats.org/drawingml/2006/main">
            <a:off x="8572500" y="2543175"/>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12" name="">
            <a:extLst xmlns:a="http://schemas.openxmlformats.org/drawingml/2006/main">
              <a:ext uri="{FF2B5EF4-FFF2-40B4-BE49-F238E27FC236}">
                <a16:creationId xmlns:a16="http://schemas.microsoft.com/office/drawing/2014/main" id="{9377F62C-6C4B-48E1-A077-7F0120CB95D8}"/>
              </a:ext>
            </a:extLst>
          </p:cNvPr>
          <p:cNvSpPr>
            <a:spLocks xmlns:a="http://schemas.openxmlformats.org/drawingml/2006/main" noGrp="1"/>
          </p:cNvSpPr>
          <p:nvPr/>
        </p:nvSpPr>
        <p:spPr>
          <a:xfrm xmlns:a="http://schemas.openxmlformats.org/drawingml/2006/main">
            <a:off x="8810625" y="2286000"/>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Bounded output</a:t>
            </a:r>
          </a:p>
        </p:txBody>
      </p:sp>
      <p:graphicFrame>
        <p:nvGraphicFramePr>
          <p:cNvPr id="13" name="">
            <a:extLst xmlns:a="http://schemas.openxmlformats.org/drawingml/2006/main">
              <a:ext uri="{FF2B5EF4-FFF2-40B4-BE49-F238E27FC236}">
                <a16:creationId xmlns:a16="http://schemas.microsoft.com/office/drawing/2014/main" id="{73D8C913-90FD-41A9-A643-572ED6FB536C}"/>
              </a:ext>
            </a:extLst>
          </p:cNvPr>
          <p:cNvGraphicFramePr/>
          <p:nvPr/>
        </p:nvGraphicFramePr>
        <p:xfrm>
          <a:off xmlns:a="http://schemas.openxmlformats.org/drawingml/2006/main" x="609600" y="4095750"/>
          <a:ext xmlns:a="http://schemas.openxmlformats.org/drawingml/2006/main" cx="10934700" cy="1571625"/>
        </p:xfrm>
        <a:graphic xmlns:a="http://schemas.openxmlformats.org/drawingml/2006/main">
          <a:graphicData uri="http://schemas.openxmlformats.org/drawingml/2006/table">
            <a:tbl>
              <a:tblPr/>
              <a:tblGrid>
                <a:gridCol w="5467350"/>
                <a:gridCol w="5467350"/>
              </a:tblGrid>
              <a:tr h="523875">
                <a:tc>
                  <a:txBody>
                    <a:bodyPr/>
                    <a:lstStyle/>
                    <a:p>
                      <a:r>
                        <a:rPr sz="1725" b="1">
                          <a:solidFill>
                            <a:srgbClr val="FFFFFF"/>
                          </a:solidFill>
                        </a:rPr>
                        <a:t>Classical model</a:t>
                      </a:r>
                    </a:p>
                  </a:txBody>
                  <a:tcPr marL="91440" marR="91440" marT="45720" marB="45720">
                    <a:solidFill>
                      <a:srgbClr val="17384C"/>
                    </a:solidFill>
                  </a:tcPr>
                </a:tc>
                <a:tc>
                  <a:txBody>
                    <a:bodyPr/>
                    <a:lstStyle/>
                    <a:p>
                      <a:r>
                        <a:rPr sz="1725" b="1">
                          <a:solidFill>
                            <a:srgbClr val="FFFFFF"/>
                          </a:solidFill>
                        </a:rPr>
                        <a:t>Neural model</a:t>
                      </a:r>
                    </a:p>
                  </a:txBody>
                  <a:tcPr marL="91440" marR="91440" marT="45720" marB="45720">
                    <a:solidFill>
                      <a:srgbClr val="17384C"/>
                    </a:solidFill>
                  </a:tcPr>
                </a:tc>
              </a:tr>
              <a:tr h="523875">
                <a:tc>
                  <a:txBody>
                    <a:bodyPr/>
                    <a:lstStyle/>
                    <a:p>
                      <a:r>
                        <a:rPr sz="1725" b="0">
                          <a:solidFill>
                            <a:srgbClr val="17384C"/>
                          </a:solidFill>
                        </a:rPr>
                        <a:t>Exact additive score decomposition</a:t>
                      </a:r>
                    </a:p>
                  </a:txBody>
                  <a:tcPr marL="91440" marR="91440" marT="45720" marB="45720">
                    <a:solidFill>
                      <a:srgbClr val="EDF3F5"/>
                    </a:solidFill>
                  </a:tcPr>
                </a:tc>
                <a:tc>
                  <a:txBody>
                    <a:bodyPr/>
                    <a:lstStyle/>
                    <a:p>
                      <a:r>
                        <a:rPr sz="1725" b="0">
                          <a:solidFill>
                            <a:srgbClr val="17384C"/>
                          </a:solidFill>
                        </a:rPr>
                        <a:t>Permute user or film IDs</a:t>
                      </a:r>
                    </a:p>
                  </a:txBody>
                  <a:tcPr marL="91440" marR="91440" marT="45720" marB="45720">
                    <a:solidFill>
                      <a:srgbClr val="EDF3F5"/>
                    </a:solidFill>
                  </a:tcPr>
                </a:tc>
              </a:tr>
              <a:tr h="523875">
                <a:tc>
                  <a:txBody>
                    <a:bodyPr/>
                    <a:lstStyle/>
                    <a:p>
                      <a:r>
                        <a:rPr sz="1725" b="0">
                          <a:solidFill>
                            <a:srgbClr val="17384C"/>
                          </a:solidFill>
                        </a:rPr>
                        <a:t>Latent dimensions need interpretation</a:t>
                      </a:r>
                    </a:p>
                  </a:txBody>
                  <a:tcPr marL="91440" marR="91440" marT="45720" marB="45720">
                    <a:solidFill>
                      <a:srgbClr val="FFFFFF"/>
                    </a:solidFill>
                  </a:tcPr>
                </a:tc>
                <a:tc>
                  <a:txBody>
                    <a:bodyPr/>
                    <a:lstStyle/>
                    <a:p>
                      <a:r>
                        <a:rPr sz="1725" b="0">
                          <a:solidFill>
                            <a:srgbClr val="17384C"/>
                          </a:solidFill>
                        </a:rPr>
                        <a:t>Measure change in RMSE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68754551"/>
      </p:ext>
    </p:extLst>
  </p:cSld>
</p:sld>
</file>

<file path=ppt/slides/slide1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22C7D13-9835-4FDE-8EAA-89DE842EA5A4}"/>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8FC83870-0F43-4E67-A009-17AE6BB54F6D}"/>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Subgroup diagnostics</a:t>
            </a:r>
          </a:p>
        </p:txBody>
      </p:sp>
      <p:sp>
        <p:nvSpPr>
          <p:cNvPr id="4" name="">
            <a:extLst xmlns:a="http://schemas.openxmlformats.org/drawingml/2006/main">
              <a:ext uri="{FF2B5EF4-FFF2-40B4-BE49-F238E27FC236}">
                <a16:creationId xmlns:a16="http://schemas.microsoft.com/office/drawing/2014/main" id="{1DD3C22F-1E81-48CE-A253-F8EAC1F78C40}"/>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E2226AC3-8388-4468-95BE-34D4C338E1BC}"/>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12</a:t>
            </a:r>
          </a:p>
        </p:txBody>
      </p:sp>
      <p:graphicFrame>
        <p:nvGraphicFramePr>
          <p:cNvPr id="6" name="">
            <a:extLst xmlns:a="http://schemas.openxmlformats.org/drawingml/2006/main">
              <a:ext uri="{FF2B5EF4-FFF2-40B4-BE49-F238E27FC236}">
                <a16:creationId xmlns:a16="http://schemas.microsoft.com/office/drawing/2014/main" id="{579FCDFB-A8E6-4BF9-BC75-4038DD0AB406}"/>
              </a:ext>
            </a:extLst>
          </p:cNvPr>
          <p:cNvGraphicFramePr/>
          <p:nvPr/>
        </p:nvGraphicFramePr>
        <p:xfrm>
          <a:off xmlns:a="http://schemas.openxmlformats.org/drawingml/2006/main" x="609600" y="2095500"/>
          <a:ext xmlns:a="http://schemas.openxmlformats.org/drawingml/2006/main" cx="10934700" cy="2857500"/>
        </p:xfrm>
        <a:graphic xmlns:a="http://schemas.openxmlformats.org/drawingml/2006/main">
          <a:graphicData uri="http://schemas.openxmlformats.org/drawingml/2006/table">
            <a:tbl>
              <a:tblPr/>
              <a:tblGrid>
                <a:gridCol w="3644900"/>
                <a:gridCol w="3644900"/>
                <a:gridCol w="3644900"/>
              </a:tblGrid>
              <a:tr h="714375">
                <a:tc>
                  <a:txBody>
                    <a:bodyPr/>
                    <a:lstStyle/>
                    <a:p>
                      <a:r>
                        <a:rPr sz="1725" b="1">
                          <a:solidFill>
                            <a:srgbClr val="FFFFFF"/>
                          </a:solidFill>
                        </a:rPr>
                        <a:t>Activity group</a:t>
                      </a:r>
                    </a:p>
                  </a:txBody>
                  <a:tcPr marL="91440" marR="91440" marT="45720" marB="45720">
                    <a:solidFill>
                      <a:srgbClr val="17384C"/>
                    </a:solidFill>
                  </a:tcPr>
                </a:tc>
                <a:tc>
                  <a:txBody>
                    <a:bodyPr/>
                    <a:lstStyle/>
                    <a:p>
                      <a:r>
                        <a:rPr sz="1725" b="1">
                          <a:solidFill>
                            <a:srgbClr val="FFFFFF"/>
                          </a:solidFill>
                        </a:rPr>
                        <a:t>Test examples</a:t>
                      </a:r>
                    </a:p>
                  </a:txBody>
                  <a:tcPr marL="91440" marR="91440" marT="45720" marB="45720">
                    <a:solidFill>
                      <a:srgbClr val="17384C"/>
                    </a:solidFill>
                  </a:tcPr>
                </a:tc>
                <a:tc>
                  <a:txBody>
                    <a:bodyPr/>
                    <a:lstStyle/>
                    <a:p>
                      <a:r>
                        <a:rPr sz="1725" b="1">
                          <a:solidFill>
                            <a:srgbClr val="FFFFFF"/>
                          </a:solidFill>
                        </a:rPr>
                        <a:t>RMSE / NDCG</a:t>
                      </a:r>
                    </a:p>
                  </a:txBody>
                  <a:tcPr marL="91440" marR="91440" marT="45720" marB="45720">
                    <a:solidFill>
                      <a:srgbClr val="17384C"/>
                    </a:solidFill>
                  </a:tcPr>
                </a:tc>
              </a:tr>
              <a:tr h="714375">
                <a:tc>
                  <a:txBody>
                    <a:bodyPr/>
                    <a:lstStyle/>
                    <a:p>
                      <a:r>
                        <a:rPr sz="1725" b="0">
                          <a:solidFill>
                            <a:srgbClr val="17384C"/>
                          </a:solidFill>
                        </a:rPr>
                        <a:t>Low</a:t>
                      </a:r>
                    </a:p>
                  </a:txBody>
                  <a:tcPr marL="91440" marR="91440" marT="45720" marB="45720">
                    <a:solidFill>
                      <a:srgbClr val="EDF3F5"/>
                    </a:solidFill>
                  </a:tcPr>
                </a:tc>
                <a:tc>
                  <a:txBody>
                    <a:bodyPr/>
                    <a:lstStyle/>
                    <a:p>
                      <a:r>
                        <a:rPr sz="1725" b="0">
                          <a:solidFill>
                            <a:srgbClr val="17384C"/>
                          </a:solidFill>
                        </a:rPr>
                        <a:t>From executed audit</a:t>
                      </a:r>
                    </a:p>
                  </a:txBody>
                  <a:tcPr marL="91440" marR="91440" marT="45720" marB="45720">
                    <a:solidFill>
                      <a:srgbClr val="EDF3F5"/>
                    </a:solidFill>
                  </a:tcPr>
                </a:tc>
                <a:tc>
                  <a:txBody>
                    <a:bodyPr/>
                    <a:lstStyle/>
                    <a:p>
                      <a:r>
                        <a:rPr sz="1725" b="0">
                          <a:solidFill>
                            <a:srgbClr val="17384C"/>
                          </a:solidFill>
                        </a:rPr>
                        <a:t>From executed audit</a:t>
                      </a:r>
                    </a:p>
                  </a:txBody>
                  <a:tcPr marL="91440" marR="91440" marT="45720" marB="45720">
                    <a:solidFill>
                      <a:srgbClr val="EDF3F5"/>
                    </a:solidFill>
                  </a:tcPr>
                </a:tc>
              </a:tr>
              <a:tr h="714375">
                <a:tc>
                  <a:txBody>
                    <a:bodyPr/>
                    <a:lstStyle/>
                    <a:p>
                      <a:r>
                        <a:rPr sz="1725" b="0">
                          <a:solidFill>
                            <a:srgbClr val="17384C"/>
                          </a:solidFill>
                        </a:rPr>
                        <a:t>Medium</a:t>
                      </a:r>
                    </a:p>
                  </a:txBody>
                  <a:tcPr marL="91440" marR="91440" marT="45720" marB="45720">
                    <a:solidFill>
                      <a:srgbClr val="FFFFFF"/>
                    </a:solidFill>
                  </a:tcPr>
                </a:tc>
                <a:tc>
                  <a:txBody>
                    <a:bodyPr/>
                    <a:lstStyle/>
                    <a:p>
                      <a:r>
                        <a:rPr sz="1725" b="0">
                          <a:solidFill>
                            <a:srgbClr val="17384C"/>
                          </a:solidFill>
                        </a:rPr>
                        <a:t>From executed audit</a:t>
                      </a:r>
                    </a:p>
                  </a:txBody>
                  <a:tcPr marL="91440" marR="91440" marT="45720" marB="45720">
                    <a:solidFill>
                      <a:srgbClr val="FFFFFF"/>
                    </a:solidFill>
                  </a:tcPr>
                </a:tc>
                <a:tc>
                  <a:txBody>
                    <a:bodyPr/>
                    <a:lstStyle/>
                    <a:p>
                      <a:r>
                        <a:rPr sz="1725" b="0">
                          <a:solidFill>
                            <a:srgbClr val="17384C"/>
                          </a:solidFill>
                        </a:rPr>
                        <a:t>From executed audit</a:t>
                      </a:r>
                    </a:p>
                  </a:txBody>
                  <a:tcPr marL="91440" marR="91440" marT="45720" marB="45720">
                    <a:solidFill>
                      <a:srgbClr val="FFFFFF"/>
                    </a:solidFill>
                  </a:tcPr>
                </a:tc>
              </a:tr>
              <a:tr h="714375">
                <a:tc>
                  <a:txBody>
                    <a:bodyPr/>
                    <a:lstStyle/>
                    <a:p>
                      <a:r>
                        <a:rPr sz="1725" b="0">
                          <a:solidFill>
                            <a:srgbClr val="17384C"/>
                          </a:solidFill>
                        </a:rPr>
                        <a:t>High</a:t>
                      </a:r>
                    </a:p>
                  </a:txBody>
                  <a:tcPr marL="91440" marR="91440" marT="45720" marB="45720">
                    <a:solidFill>
                      <a:srgbClr val="EDF3F5"/>
                    </a:solidFill>
                  </a:tcPr>
                </a:tc>
                <a:tc>
                  <a:txBody>
                    <a:bodyPr/>
                    <a:lstStyle/>
                    <a:p>
                      <a:r>
                        <a:rPr sz="1725" b="0">
                          <a:solidFill>
                            <a:srgbClr val="17384C"/>
                          </a:solidFill>
                        </a:rPr>
                        <a:t>From executed audit</a:t>
                      </a:r>
                    </a:p>
                  </a:txBody>
                  <a:tcPr marL="91440" marR="91440" marT="45720" marB="45720">
                    <a:solidFill>
                      <a:srgbClr val="EDF3F5"/>
                    </a:solidFill>
                  </a:tcPr>
                </a:tc>
                <a:tc>
                  <a:txBody>
                    <a:bodyPr/>
                    <a:lstStyle/>
                    <a:p>
                      <a:r>
                        <a:rPr sz="1725" b="0">
                          <a:solidFill>
                            <a:srgbClr val="17384C"/>
                          </a:solidFill>
                        </a:rPr>
                        <a:t>From executed audit</a:t>
                      </a:r>
                    </a:p>
                  </a:txBody>
                  <a:tcPr marL="91440" marR="91440" marT="45720" marB="45720">
                    <a:solidFill>
                      <a:srgbClr val="EDF3F5"/>
                    </a:solidFill>
                  </a:tcPr>
                </a:tc>
              </a:tr>
            </a:tbl>
          </a:graphicData>
        </a:graphic>
      </p:graphicFrame>
      <p:sp>
        <p:nvSpPr>
          <p:cNvPr id="7" name="">
            <a:extLst xmlns:a="http://schemas.openxmlformats.org/drawingml/2006/main">
              <a:ext uri="{FF2B5EF4-FFF2-40B4-BE49-F238E27FC236}">
                <a16:creationId xmlns:a16="http://schemas.microsoft.com/office/drawing/2014/main" id="{DB9AAD52-B198-416A-B719-2A19FA903616}"/>
              </a:ext>
            </a:extLst>
          </p:cNvPr>
          <p:cNvSpPr>
            <a:spLocks xmlns:a="http://schemas.openxmlformats.org/drawingml/2006/main" noGrp="1"/>
          </p:cNvSpPr>
          <p:nvPr/>
        </p:nvSpPr>
        <p:spPr>
          <a:xfrm xmlns:a="http://schemas.openxmlformats.org/drawingml/2006/main">
            <a:off x="685800" y="5381625"/>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147D86"/>
                </a:solidFill>
              </a:defRPr>
            </a:defPPr>
            <a:lvl1pPr>
              <a:defRPr sz="2325" b="1">
                <a:solidFill>
                  <a:srgbClr val="147D86"/>
                </a:solidFill>
              </a:defRPr>
            </a:lvl1pPr>
            <a:lvl2pPr>
              <a:defRPr sz="2325" b="1">
                <a:solidFill>
                  <a:srgbClr val="147D86"/>
                </a:solidFill>
              </a:defRPr>
            </a:lvl2pPr>
            <a:lvl3pPr>
              <a:defRPr sz="2325" b="1">
                <a:solidFill>
                  <a:srgbClr val="147D86"/>
                </a:solidFill>
              </a:defRPr>
            </a:lvl3pPr>
            <a:lvl4pPr>
              <a:defRPr sz="2325" b="1">
                <a:solidFill>
                  <a:srgbClr val="147D86"/>
                </a:solidFill>
              </a:defRPr>
            </a:lvl4pPr>
            <a:lvl5pPr>
              <a:defRPr sz="2325" b="1">
                <a:solidFill>
                  <a:srgbClr val="147D86"/>
                </a:solidFill>
              </a:defRPr>
            </a:lvl5pPr>
            <a:lvl6pPr>
              <a:defRPr sz="2325" b="1">
                <a:solidFill>
                  <a:srgbClr val="147D86"/>
                </a:solidFill>
              </a:defRPr>
            </a:lvl6pPr>
            <a:lvl7pPr>
              <a:defRPr sz="2325" b="1">
                <a:solidFill>
                  <a:srgbClr val="147D86"/>
                </a:solidFill>
              </a:defRPr>
            </a:lvl7pPr>
            <a:lvl8pPr>
              <a:defRPr sz="2325" b="1">
                <a:solidFill>
                  <a:srgbClr val="147D86"/>
                </a:solidFill>
              </a:defRPr>
            </a:lvl8pPr>
            <a:lvl9pPr>
              <a:defRPr sz="2325" b="1">
                <a:solidFill>
                  <a:srgbClr val="147D86"/>
                </a:solidFill>
              </a:defRPr>
            </a:lvl9pPr>
          </a:lstStyle>
          <a:p xmlns:a="http://schemas.openxmlformats.org/drawingml/2006/main">
            <a:pPr>
              <a:defRPr sz="2325" b="1">
                <a:solidFill>
                  <a:srgbClr val="147D86"/>
                </a:solidFill>
              </a:defRPr>
            </a:pPr>
            <a:r>
              <a:rPr sz="2325" b="1">
                <a:solidFill>
                  <a:srgbClr val="147D86"/>
                </a:solidFill>
              </a:rPr>
              <a:t>Define activity using training history only</a:t>
            </a:r>
          </a:p>
        </p:txBody>
      </p:sp>
    </p:spTree>
    <p:extLst>
      <p:ext uri="{BB962C8B-B14F-4D97-AF65-F5344CB8AC3E}">
        <p14:creationId xmlns:p14="http://schemas.microsoft.com/office/powerpoint/2010/main" val="985600268"/>
      </p:ext>
    </p:extLst>
  </p:cSld>
</p:sld>
</file>

<file path=ppt/slides/slide1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05CE5B8-C893-4DAA-926F-EAB8DCED20DF}"/>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A5EE6988-6721-4D12-A1F4-1F6E35584841}"/>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Ethics in movie recommendation</a:t>
            </a:r>
          </a:p>
        </p:txBody>
      </p:sp>
      <p:sp>
        <p:nvSpPr>
          <p:cNvPr id="4" name="">
            <a:extLst xmlns:a="http://schemas.openxmlformats.org/drawingml/2006/main">
              <a:ext uri="{FF2B5EF4-FFF2-40B4-BE49-F238E27FC236}">
                <a16:creationId xmlns:a16="http://schemas.microsoft.com/office/drawing/2014/main" id="{8AF7FDE1-3EDD-4B51-B7BD-552DB2171835}"/>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GroupLens Research (1998); Tabassi (2023)</a:t>
            </a:r>
          </a:p>
        </p:txBody>
      </p:sp>
      <p:sp>
        <p:nvSpPr>
          <p:cNvPr id="5" name="">
            <a:extLst xmlns:a="http://schemas.openxmlformats.org/drawingml/2006/main">
              <a:ext uri="{FF2B5EF4-FFF2-40B4-BE49-F238E27FC236}">
                <a16:creationId xmlns:a16="http://schemas.microsoft.com/office/drawing/2014/main" id="{1ADF454B-F5EC-4E6F-BEFA-2621CBD41683}"/>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13</a:t>
            </a:r>
          </a:p>
        </p:txBody>
      </p:sp>
      <p:graphicFrame>
        <p:nvGraphicFramePr>
          <p:cNvPr id="6" name="">
            <a:extLst xmlns:a="http://schemas.openxmlformats.org/drawingml/2006/main">
              <a:ext uri="{FF2B5EF4-FFF2-40B4-BE49-F238E27FC236}">
                <a16:creationId xmlns:a16="http://schemas.microsoft.com/office/drawing/2014/main" id="{7E9F9630-60B4-4327-A4BE-2DA00332EEBF}"/>
              </a:ext>
            </a:extLst>
          </p:cNvPr>
          <p:cNvGraphicFramePr/>
          <p:nvPr/>
        </p:nvGraphicFramePr>
        <p:xfrm>
          <a:off xmlns:a="http://schemas.openxmlformats.org/drawingml/2006/main" x="609600" y="2047875"/>
          <a:ext xmlns:a="http://schemas.openxmlformats.org/drawingml/2006/main" cx="10934700" cy="3381375"/>
        </p:xfrm>
        <a:graphic xmlns:a="http://schemas.openxmlformats.org/drawingml/2006/main">
          <a:graphicData uri="http://schemas.openxmlformats.org/drawingml/2006/table">
            <a:tbl>
              <a:tblPr/>
              <a:tblGrid>
                <a:gridCol w="3644900"/>
                <a:gridCol w="3644900"/>
                <a:gridCol w="3644900"/>
              </a:tblGrid>
              <a:tr h="676275">
                <a:tc>
                  <a:txBody>
                    <a:bodyPr/>
                    <a:lstStyle/>
                    <a:p>
                      <a:r>
                        <a:rPr sz="1725" b="1">
                          <a:solidFill>
                            <a:srgbClr val="FFFFFF"/>
                          </a:solidFill>
                        </a:rPr>
                        <a:t>Risk</a:t>
                      </a:r>
                    </a:p>
                  </a:txBody>
                  <a:tcPr marL="91440" marR="91440" marT="45720" marB="45720">
                    <a:solidFill>
                      <a:srgbClr val="17384C"/>
                    </a:solidFill>
                  </a:tcPr>
                </a:tc>
                <a:tc>
                  <a:txBody>
                    <a:bodyPr/>
                    <a:lstStyle/>
                    <a:p>
                      <a:r>
                        <a:rPr sz="1725" b="1">
                          <a:solidFill>
                            <a:srgbClr val="FFFFFF"/>
                          </a:solidFill>
                        </a:rPr>
                        <a:t>Consequence</a:t>
                      </a:r>
                    </a:p>
                  </a:txBody>
                  <a:tcPr marL="91440" marR="91440" marT="45720" marB="45720">
                    <a:solidFill>
                      <a:srgbClr val="17384C"/>
                    </a:solidFill>
                  </a:tcPr>
                </a:tc>
                <a:tc>
                  <a:txBody>
                    <a:bodyPr/>
                    <a:lstStyle/>
                    <a:p>
                      <a:r>
                        <a:rPr sz="1725" b="1">
                          <a:solidFill>
                            <a:srgbClr val="FFFFFF"/>
                          </a:solidFill>
                        </a:rPr>
                        <a:t>Control</a:t>
                      </a:r>
                    </a:p>
                  </a:txBody>
                  <a:tcPr marL="91440" marR="91440" marT="45720" marB="45720">
                    <a:solidFill>
                      <a:srgbClr val="17384C"/>
                    </a:solidFill>
                  </a:tcPr>
                </a:tc>
              </a:tr>
              <a:tr h="676275">
                <a:tc>
                  <a:txBody>
                    <a:bodyPr/>
                    <a:lstStyle/>
                    <a:p>
                      <a:r>
                        <a:rPr sz="1725" b="0">
                          <a:solidFill>
                            <a:srgbClr val="17384C"/>
                          </a:solidFill>
                        </a:rPr>
                        <a:t>False positive</a:t>
                      </a:r>
                    </a:p>
                  </a:txBody>
                  <a:tcPr marL="91440" marR="91440" marT="45720" marB="45720">
                    <a:solidFill>
                      <a:srgbClr val="EDF3F5"/>
                    </a:solidFill>
                  </a:tcPr>
                </a:tc>
                <a:tc>
                  <a:txBody>
                    <a:bodyPr/>
                    <a:lstStyle/>
                    <a:p>
                      <a:r>
                        <a:rPr sz="1725" b="0">
                          <a:solidFill>
                            <a:srgbClr val="17384C"/>
                          </a:solidFill>
                        </a:rPr>
                        <a:t>Unsuitable recommendation</a:t>
                      </a:r>
                    </a:p>
                  </a:txBody>
                  <a:tcPr marL="91440" marR="91440" marT="45720" marB="45720">
                    <a:solidFill>
                      <a:srgbClr val="EDF3F5"/>
                    </a:solidFill>
                  </a:tcPr>
                </a:tc>
                <a:tc>
                  <a:txBody>
                    <a:bodyPr/>
                    <a:lstStyle/>
                    <a:p>
                      <a:r>
                        <a:rPr sz="1725" b="0">
                          <a:solidFill>
                            <a:srgbClr val="17384C"/>
                          </a:solidFill>
                        </a:rPr>
                        <a:t>Dismiss and correction options</a:t>
                      </a:r>
                    </a:p>
                  </a:txBody>
                  <a:tcPr marL="91440" marR="91440" marT="45720" marB="45720">
                    <a:solidFill>
                      <a:srgbClr val="EDF3F5"/>
                    </a:solidFill>
                  </a:tcPr>
                </a:tc>
              </a:tr>
              <a:tr h="676275">
                <a:tc>
                  <a:txBody>
                    <a:bodyPr/>
                    <a:lstStyle/>
                    <a:p>
                      <a:r>
                        <a:rPr sz="1725" b="0">
                          <a:solidFill>
                            <a:srgbClr val="17384C"/>
                          </a:solidFill>
                        </a:rPr>
                        <a:t>False negative</a:t>
                      </a:r>
                    </a:p>
                  </a:txBody>
                  <a:tcPr marL="91440" marR="91440" marT="45720" marB="45720">
                    <a:solidFill>
                      <a:srgbClr val="FFFFFF"/>
                    </a:solidFill>
                  </a:tcPr>
                </a:tc>
                <a:tc>
                  <a:txBody>
                    <a:bodyPr/>
                    <a:lstStyle/>
                    <a:p>
                      <a:r>
                        <a:rPr sz="1725" b="0">
                          <a:solidFill>
                            <a:srgbClr val="17384C"/>
                          </a:solidFill>
                        </a:rPr>
                        <a:t>Missed niche content</a:t>
                      </a:r>
                    </a:p>
                  </a:txBody>
                  <a:tcPr marL="91440" marR="91440" marT="45720" marB="45720">
                    <a:solidFill>
                      <a:srgbClr val="FFFFFF"/>
                    </a:solidFill>
                  </a:tcPr>
                </a:tc>
                <a:tc>
                  <a:txBody>
                    <a:bodyPr/>
                    <a:lstStyle/>
                    <a:p>
                      <a:r>
                        <a:rPr sz="1725" b="0">
                          <a:solidFill>
                            <a:srgbClr val="17384C"/>
                          </a:solidFill>
                        </a:rPr>
                        <a:t>Coverage and exposure audit</a:t>
                      </a:r>
                    </a:p>
                  </a:txBody>
                  <a:tcPr marL="91440" marR="91440" marT="45720" marB="45720">
                    <a:solidFill>
                      <a:srgbClr val="FFFFFF"/>
                    </a:solidFill>
                  </a:tcPr>
                </a:tc>
              </a:tr>
              <a:tr h="676275">
                <a:tc>
                  <a:txBody>
                    <a:bodyPr/>
                    <a:lstStyle/>
                    <a:p>
                      <a:r>
                        <a:rPr sz="1725" b="0">
                          <a:solidFill>
                            <a:srgbClr val="17384C"/>
                          </a:solidFill>
                        </a:rPr>
                        <a:t>Privacy</a:t>
                      </a:r>
                    </a:p>
                  </a:txBody>
                  <a:tcPr marL="91440" marR="91440" marT="45720" marB="45720">
                    <a:solidFill>
                      <a:srgbClr val="EDF3F5"/>
                    </a:solidFill>
                  </a:tcPr>
                </a:tc>
                <a:tc>
                  <a:txBody>
                    <a:bodyPr/>
                    <a:lstStyle/>
                    <a:p>
                      <a:r>
                        <a:rPr sz="1725" b="0">
                          <a:solidFill>
                            <a:srgbClr val="17384C"/>
                          </a:solidFill>
                        </a:rPr>
                        <a:t>Unnecessary personal profiling</a:t>
                      </a:r>
                    </a:p>
                  </a:txBody>
                  <a:tcPr marL="91440" marR="91440" marT="45720" marB="45720">
                    <a:solidFill>
                      <a:srgbClr val="EDF3F5"/>
                    </a:solidFill>
                  </a:tcPr>
                </a:tc>
                <a:tc>
                  <a:txBody>
                    <a:bodyPr/>
                    <a:lstStyle/>
                    <a:p>
                      <a:r>
                        <a:rPr sz="1725" b="0">
                          <a:solidFill>
                            <a:srgbClr val="17384C"/>
                          </a:solidFill>
                        </a:rPr>
                        <a:t>Minimisation and access controls</a:t>
                      </a:r>
                    </a:p>
                  </a:txBody>
                  <a:tcPr marL="91440" marR="91440" marT="45720" marB="45720">
                    <a:solidFill>
                      <a:srgbClr val="EDF3F5"/>
                    </a:solidFill>
                  </a:tcPr>
                </a:tc>
              </a:tr>
              <a:tr h="676275">
                <a:tc>
                  <a:txBody>
                    <a:bodyPr/>
                    <a:lstStyle/>
                    <a:p>
                      <a:r>
                        <a:rPr sz="1725" b="0">
                          <a:solidFill>
                            <a:srgbClr val="17384C"/>
                          </a:solidFill>
                        </a:rPr>
                        <a:t>Feedback loop</a:t>
                      </a:r>
                    </a:p>
                  </a:txBody>
                  <a:tcPr marL="91440" marR="91440" marT="45720" marB="45720">
                    <a:solidFill>
                      <a:srgbClr val="FFFFFF"/>
                    </a:solidFill>
                  </a:tcPr>
                </a:tc>
                <a:tc>
                  <a:txBody>
                    <a:bodyPr/>
                    <a:lstStyle/>
                    <a:p>
                      <a:r>
                        <a:rPr sz="1725" b="0">
                          <a:solidFill>
                            <a:srgbClr val="17384C"/>
                          </a:solidFill>
                        </a:rPr>
                        <a:t>Repeated popularity bias</a:t>
                      </a:r>
                    </a:p>
                  </a:txBody>
                  <a:tcPr marL="91440" marR="91440" marT="45720" marB="45720">
                    <a:solidFill>
                      <a:srgbClr val="FFFFFF"/>
                    </a:solidFill>
                  </a:tcPr>
                </a:tc>
                <a:tc>
                  <a:txBody>
                    <a:bodyPr/>
                    <a:lstStyle/>
                    <a:p>
                      <a:r>
                        <a:rPr sz="1725" b="0">
                          <a:solidFill>
                            <a:srgbClr val="17384C"/>
                          </a:solidFill>
                        </a:rPr>
                        <a:t>Monitor exposure concentration</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5C84FED-9312-4C89-9846-99C0C4E3DDE4}"/>
              </a:ext>
            </a:extLst>
          </p:cNvPr>
          <p:cNvSpPr>
            <a:spLocks xmlns:a="http://schemas.openxmlformats.org/drawingml/2006/main" noGrp="1"/>
          </p:cNvSpPr>
          <p:nvPr/>
        </p:nvSpPr>
        <p:spPr>
          <a:xfrm xmlns:a="http://schemas.openxmlformats.org/drawingml/2006/main">
            <a:off x="685800" y="5762625"/>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47D86"/>
                </a:solidFill>
              </a:defRPr>
            </a:defPPr>
            <a:lvl1pPr>
              <a:defRPr sz="1875" b="1">
                <a:solidFill>
                  <a:srgbClr val="147D86"/>
                </a:solidFill>
              </a:defRPr>
            </a:lvl1pPr>
            <a:lvl2pPr>
              <a:defRPr sz="1875" b="1">
                <a:solidFill>
                  <a:srgbClr val="147D86"/>
                </a:solidFill>
              </a:defRPr>
            </a:lvl2pPr>
            <a:lvl3pPr>
              <a:defRPr sz="1875" b="1">
                <a:solidFill>
                  <a:srgbClr val="147D86"/>
                </a:solidFill>
              </a:defRPr>
            </a:lvl3pPr>
            <a:lvl4pPr>
              <a:defRPr sz="1875" b="1">
                <a:solidFill>
                  <a:srgbClr val="147D86"/>
                </a:solidFill>
              </a:defRPr>
            </a:lvl4pPr>
            <a:lvl5pPr>
              <a:defRPr sz="1875" b="1">
                <a:solidFill>
                  <a:srgbClr val="147D86"/>
                </a:solidFill>
              </a:defRPr>
            </a:lvl5pPr>
            <a:lvl6pPr>
              <a:defRPr sz="1875" b="1">
                <a:solidFill>
                  <a:srgbClr val="147D86"/>
                </a:solidFill>
              </a:defRPr>
            </a:lvl6pPr>
            <a:lvl7pPr>
              <a:defRPr sz="1875" b="1">
                <a:solidFill>
                  <a:srgbClr val="147D86"/>
                </a:solidFill>
              </a:defRPr>
            </a:lvl7pPr>
            <a:lvl8pPr>
              <a:defRPr sz="1875" b="1">
                <a:solidFill>
                  <a:srgbClr val="147D86"/>
                </a:solidFill>
              </a:defRPr>
            </a:lvl8pPr>
            <a:lvl9pPr>
              <a:defRPr sz="1875" b="1">
                <a:solidFill>
                  <a:srgbClr val="147D86"/>
                </a:solidFill>
              </a:defRPr>
            </a:lvl9pPr>
          </a:lstStyle>
          <a:p xmlns:a="http://schemas.openxmlformats.org/drawingml/2006/main">
            <a:pPr>
              <a:defRPr sz="1875" b="1">
                <a:solidFill>
                  <a:srgbClr val="147D86"/>
                </a:solidFill>
              </a:defRPr>
            </a:pPr>
            <a:r>
              <a:rPr sz="1875" b="1">
                <a:solidFill>
                  <a:srgbClr val="147D86"/>
                </a:solidFill>
              </a:rPr>
              <a:t>Commercial reuse requires permission under the dataset terms</a:t>
            </a:r>
          </a:p>
        </p:txBody>
      </p:sp>
    </p:spTree>
    <p:extLst>
      <p:ext uri="{BB962C8B-B14F-4D97-AF65-F5344CB8AC3E}">
        <p14:creationId xmlns:p14="http://schemas.microsoft.com/office/powerpoint/2010/main" val="288976735"/>
      </p:ext>
    </p:extLst>
  </p:cSld>
</p:sld>
</file>

<file path=ppt/slides/slide1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431E222-4FBF-4E5D-847A-9B629C19B6D1}"/>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48EB6AB9-324D-4404-9156-3F4F0959B8B7}"/>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Deployment architecture</a:t>
            </a:r>
          </a:p>
        </p:txBody>
      </p:sp>
      <p:sp>
        <p:nvSpPr>
          <p:cNvPr id="4" name="">
            <a:extLst xmlns:a="http://schemas.openxmlformats.org/drawingml/2006/main">
              <a:ext uri="{FF2B5EF4-FFF2-40B4-BE49-F238E27FC236}">
                <a16:creationId xmlns:a16="http://schemas.microsoft.com/office/drawing/2014/main" id="{AD30DB1E-877A-458E-9009-44F3A6F46A7E}"/>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Tabassi (2023)</a:t>
            </a:r>
          </a:p>
        </p:txBody>
      </p:sp>
      <p:sp>
        <p:nvSpPr>
          <p:cNvPr id="5" name="">
            <a:extLst xmlns:a="http://schemas.openxmlformats.org/drawingml/2006/main">
              <a:ext uri="{FF2B5EF4-FFF2-40B4-BE49-F238E27FC236}">
                <a16:creationId xmlns:a16="http://schemas.microsoft.com/office/drawing/2014/main" id="{69D1B854-F327-47AB-AD9F-0043B8E7A568}"/>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14</a:t>
            </a:r>
          </a:p>
        </p:txBody>
      </p:sp>
      <p:sp>
        <p:nvSpPr>
          <p:cNvPr id="6" name="">
            <a:extLst xmlns:a="http://schemas.openxmlformats.org/drawingml/2006/main">
              <a:ext uri="{FF2B5EF4-FFF2-40B4-BE49-F238E27FC236}">
                <a16:creationId xmlns:a16="http://schemas.microsoft.com/office/drawing/2014/main" id="{9C84DFE9-E546-4C16-9BB5-0435573E3790}"/>
              </a:ext>
            </a:extLst>
          </p:cNvPr>
          <p:cNvSpPr>
            <a:spLocks xmlns:a="http://schemas.openxmlformats.org/drawingml/2006/main" noGrp="1"/>
          </p:cNvSpPr>
          <p:nvPr/>
        </p:nvSpPr>
        <p:spPr>
          <a:xfrm xmlns:a="http://schemas.openxmlformats.org/drawingml/2006/main">
            <a:off x="609600" y="2333625"/>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Authenticated</a:t>
            </a:r>
          </a:p>
          <a:p xmlns:a="http://schemas.openxmlformats.org/drawingml/2006/main">
            <a:pPr>
              <a:defRPr sz="1875" b="1">
                <a:solidFill>
                  <a:srgbClr val="17384C"/>
                </a:solidFill>
              </a:defRPr>
            </a:pPr>
            <a:r>
              <a:rPr sz="1875" b="1">
                <a:solidFill>
                  <a:srgbClr val="17384C"/>
                </a:solidFill>
              </a:rPr>
              <a:t>request</a:t>
            </a:r>
          </a:p>
        </p:txBody>
      </p:sp>
      <p:sp>
        <p:nvSpPr>
          <p:cNvPr id="7" name="">
            <a:extLst xmlns:a="http://schemas.openxmlformats.org/drawingml/2006/main">
              <a:ext uri="{FF2B5EF4-FFF2-40B4-BE49-F238E27FC236}">
                <a16:creationId xmlns:a16="http://schemas.microsoft.com/office/drawing/2014/main" id="{17A1BB87-FA0B-4229-B198-A49C0E9F80D0}"/>
              </a:ext>
            </a:extLst>
          </p:cNvPr>
          <p:cNvSpPr>
            <a:spLocks xmlns:a="http://schemas.openxmlformats.org/drawingml/2006/main" noGrp="1"/>
          </p:cNvSpPr>
          <p:nvPr/>
        </p:nvSpPr>
        <p:spPr>
          <a:xfrm xmlns:a="http://schemas.openxmlformats.org/drawingml/2006/main">
            <a:off x="3105150" y="2590800"/>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8" name="">
            <a:extLst xmlns:a="http://schemas.openxmlformats.org/drawingml/2006/main">
              <a:ext uri="{FF2B5EF4-FFF2-40B4-BE49-F238E27FC236}">
                <a16:creationId xmlns:a16="http://schemas.microsoft.com/office/drawing/2014/main" id="{4A985F51-BC25-446A-A053-6E14234DAC66}"/>
              </a:ext>
            </a:extLst>
          </p:cNvPr>
          <p:cNvSpPr>
            <a:spLocks xmlns:a="http://schemas.openxmlformats.org/drawingml/2006/main" noGrp="1"/>
          </p:cNvSpPr>
          <p:nvPr/>
        </p:nvSpPr>
        <p:spPr>
          <a:xfrm xmlns:a="http://schemas.openxmlformats.org/drawingml/2006/main">
            <a:off x="3343275" y="2333625"/>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Candidate</a:t>
            </a:r>
          </a:p>
          <a:p xmlns:a="http://schemas.openxmlformats.org/drawingml/2006/main">
            <a:pPr>
              <a:defRPr sz="1875" b="1">
                <a:solidFill>
                  <a:srgbClr val="17384C"/>
                </a:solidFill>
              </a:defRPr>
            </a:pPr>
            <a:r>
              <a:rPr sz="1875" b="1">
                <a:solidFill>
                  <a:srgbClr val="17384C"/>
                </a:solidFill>
              </a:rPr>
              <a:t>retrieval</a:t>
            </a:r>
          </a:p>
        </p:txBody>
      </p:sp>
      <p:sp>
        <p:nvSpPr>
          <p:cNvPr id="9" name="">
            <a:extLst xmlns:a="http://schemas.openxmlformats.org/drawingml/2006/main">
              <a:ext uri="{FF2B5EF4-FFF2-40B4-BE49-F238E27FC236}">
                <a16:creationId xmlns:a16="http://schemas.microsoft.com/office/drawing/2014/main" id="{1BF25188-315D-4991-B29C-07500C215895}"/>
              </a:ext>
            </a:extLst>
          </p:cNvPr>
          <p:cNvSpPr>
            <a:spLocks xmlns:a="http://schemas.openxmlformats.org/drawingml/2006/main" noGrp="1"/>
          </p:cNvSpPr>
          <p:nvPr/>
        </p:nvSpPr>
        <p:spPr>
          <a:xfrm xmlns:a="http://schemas.openxmlformats.org/drawingml/2006/main">
            <a:off x="5838825" y="2590800"/>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10" name="">
            <a:extLst xmlns:a="http://schemas.openxmlformats.org/drawingml/2006/main">
              <a:ext uri="{FF2B5EF4-FFF2-40B4-BE49-F238E27FC236}">
                <a16:creationId xmlns:a16="http://schemas.microsoft.com/office/drawing/2014/main" id="{8A1C0C9D-3EE0-41B9-BA73-2A4999B1C3B7}"/>
              </a:ext>
            </a:extLst>
          </p:cNvPr>
          <p:cNvSpPr>
            <a:spLocks xmlns:a="http://schemas.openxmlformats.org/drawingml/2006/main" noGrp="1"/>
          </p:cNvSpPr>
          <p:nvPr/>
        </p:nvSpPr>
        <p:spPr>
          <a:xfrm xmlns:a="http://schemas.openxmlformats.org/drawingml/2006/main">
            <a:off x="6076950" y="2333625"/>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Model</a:t>
            </a:r>
          </a:p>
          <a:p xmlns:a="http://schemas.openxmlformats.org/drawingml/2006/main">
            <a:pPr>
              <a:defRPr sz="1875" b="1">
                <a:solidFill>
                  <a:srgbClr val="17384C"/>
                </a:solidFill>
              </a:defRPr>
            </a:pPr>
            <a:r>
              <a:rPr sz="1875" b="1">
                <a:solidFill>
                  <a:srgbClr val="17384C"/>
                </a:solidFill>
              </a:rPr>
              <a:t>ranking</a:t>
            </a:r>
          </a:p>
        </p:txBody>
      </p:sp>
      <p:sp>
        <p:nvSpPr>
          <p:cNvPr id="11" name="">
            <a:extLst xmlns:a="http://schemas.openxmlformats.org/drawingml/2006/main">
              <a:ext uri="{FF2B5EF4-FFF2-40B4-BE49-F238E27FC236}">
                <a16:creationId xmlns:a16="http://schemas.microsoft.com/office/drawing/2014/main" id="{633F45C8-6C08-4BB9-A01D-14CF4E9A86EF}"/>
              </a:ext>
            </a:extLst>
          </p:cNvPr>
          <p:cNvSpPr>
            <a:spLocks xmlns:a="http://schemas.openxmlformats.org/drawingml/2006/main" noGrp="1"/>
          </p:cNvSpPr>
          <p:nvPr/>
        </p:nvSpPr>
        <p:spPr>
          <a:xfrm xmlns:a="http://schemas.openxmlformats.org/drawingml/2006/main">
            <a:off x="8572500" y="2590800"/>
            <a:ext cx="209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47D86"/>
                </a:solidFill>
              </a:defRPr>
            </a:defPPr>
            <a:lvl1pPr>
              <a:defRPr sz="2700" b="0">
                <a:solidFill>
                  <a:srgbClr val="147D86"/>
                </a:solidFill>
              </a:defRPr>
            </a:lvl1pPr>
            <a:lvl2pPr>
              <a:defRPr sz="2700" b="0">
                <a:solidFill>
                  <a:srgbClr val="147D86"/>
                </a:solidFill>
              </a:defRPr>
            </a:lvl2pPr>
            <a:lvl3pPr>
              <a:defRPr sz="2700" b="0">
                <a:solidFill>
                  <a:srgbClr val="147D86"/>
                </a:solidFill>
              </a:defRPr>
            </a:lvl3pPr>
            <a:lvl4pPr>
              <a:defRPr sz="2700" b="0">
                <a:solidFill>
                  <a:srgbClr val="147D86"/>
                </a:solidFill>
              </a:defRPr>
            </a:lvl4pPr>
            <a:lvl5pPr>
              <a:defRPr sz="2700" b="0">
                <a:solidFill>
                  <a:srgbClr val="147D86"/>
                </a:solidFill>
              </a:defRPr>
            </a:lvl5pPr>
            <a:lvl6pPr>
              <a:defRPr sz="2700" b="0">
                <a:solidFill>
                  <a:srgbClr val="147D86"/>
                </a:solidFill>
              </a:defRPr>
            </a:lvl6pPr>
            <a:lvl7pPr>
              <a:defRPr sz="2700" b="0">
                <a:solidFill>
                  <a:srgbClr val="147D86"/>
                </a:solidFill>
              </a:defRPr>
            </a:lvl7pPr>
            <a:lvl8pPr>
              <a:defRPr sz="2700" b="0">
                <a:solidFill>
                  <a:srgbClr val="147D86"/>
                </a:solidFill>
              </a:defRPr>
            </a:lvl8pPr>
            <a:lvl9pPr>
              <a:defRPr sz="2700" b="0">
                <a:solidFill>
                  <a:srgbClr val="147D86"/>
                </a:solidFill>
              </a:defRPr>
            </a:lvl9pPr>
          </a:lstStyle>
          <a:p xmlns:a="http://schemas.openxmlformats.org/drawingml/2006/main">
            <a:pPr>
              <a:defRPr sz="2700" b="0">
                <a:solidFill>
                  <a:srgbClr val="147D86"/>
                </a:solidFill>
              </a:defRPr>
            </a:pPr>
            <a:r>
              <a:rPr sz="2700" b="0">
                <a:solidFill>
                  <a:srgbClr val="147D86"/>
                </a:solidFill>
              </a:rPr>
              <a:t>›</a:t>
            </a:r>
          </a:p>
        </p:txBody>
      </p:sp>
      <p:sp>
        <p:nvSpPr>
          <p:cNvPr id="12" name="">
            <a:extLst xmlns:a="http://schemas.openxmlformats.org/drawingml/2006/main">
              <a:ext uri="{FF2B5EF4-FFF2-40B4-BE49-F238E27FC236}">
                <a16:creationId xmlns:a16="http://schemas.microsoft.com/office/drawing/2014/main" id="{32071073-BC38-4316-BDDB-377327B67E88}"/>
              </a:ext>
            </a:extLst>
          </p:cNvPr>
          <p:cNvSpPr>
            <a:spLocks xmlns:a="http://schemas.openxmlformats.org/drawingml/2006/main" noGrp="1"/>
          </p:cNvSpPr>
          <p:nvPr/>
        </p:nvSpPr>
        <p:spPr>
          <a:xfrm xmlns:a="http://schemas.openxmlformats.org/drawingml/2006/main">
            <a:off x="8810625" y="2333625"/>
            <a:ext cx="2486025" cy="1047750"/>
          </a:xfrm>
          <a:prstGeom xmlns:a="http://schemas.openxmlformats.org/drawingml/2006/main" prst="rect">
            <a:avLst/>
          </a:prstGeom>
          <a:solidFill xmlns:a="http://schemas.openxmlformats.org/drawingml/2006/main">
            <a:srgbClr val="E3F0F0"/>
          </a:solidFill>
          <a:ln xmlns:a="http://schemas.openxmlformats.org/drawingml/2006/main" w="9525">
            <a:solidFill>
              <a:srgbClr val="147D86"/>
            </a:solidFill>
            <a:prstDash val="solid"/>
          </a:ln>
        </p:spPr>
        <p:txBody>
          <a:bodyPr xmlns:a="http://schemas.openxmlformats.org/drawingml/2006/main"/>
          <a:lstStyle xmlns:a="http://schemas.openxmlformats.org/drawingml/2006/main">
            <a:defPPr>
              <a:defRPr sz="1875" b="1">
                <a:solidFill>
                  <a:srgbClr val="17384C"/>
                </a:solidFill>
              </a:defRPr>
            </a:defPPr>
            <a:lvl1pPr>
              <a:defRPr sz="1875" b="1">
                <a:solidFill>
                  <a:srgbClr val="17384C"/>
                </a:solidFill>
              </a:defRPr>
            </a:lvl1pPr>
            <a:lvl2pPr>
              <a:defRPr sz="1875" b="1">
                <a:solidFill>
                  <a:srgbClr val="17384C"/>
                </a:solidFill>
              </a:defRPr>
            </a:lvl2pPr>
            <a:lvl3pPr>
              <a:defRPr sz="1875" b="1">
                <a:solidFill>
                  <a:srgbClr val="17384C"/>
                </a:solidFill>
              </a:defRPr>
            </a:lvl3pPr>
            <a:lvl4pPr>
              <a:defRPr sz="1875" b="1">
                <a:solidFill>
                  <a:srgbClr val="17384C"/>
                </a:solidFill>
              </a:defRPr>
            </a:lvl4pPr>
            <a:lvl5pPr>
              <a:defRPr sz="1875" b="1">
                <a:solidFill>
                  <a:srgbClr val="17384C"/>
                </a:solidFill>
              </a:defRPr>
            </a:lvl5pPr>
            <a:lvl6pPr>
              <a:defRPr sz="1875" b="1">
                <a:solidFill>
                  <a:srgbClr val="17384C"/>
                </a:solidFill>
              </a:defRPr>
            </a:lvl6pPr>
            <a:lvl7pPr>
              <a:defRPr sz="1875" b="1">
                <a:solidFill>
                  <a:srgbClr val="17384C"/>
                </a:solidFill>
              </a:defRPr>
            </a:lvl7pPr>
            <a:lvl8pPr>
              <a:defRPr sz="1875" b="1">
                <a:solidFill>
                  <a:srgbClr val="17384C"/>
                </a:solidFill>
              </a:defRPr>
            </a:lvl8pPr>
            <a:lvl9pPr>
              <a:defRPr sz="1875" b="1">
                <a:solidFill>
                  <a:srgbClr val="17384C"/>
                </a:solidFill>
              </a:defRPr>
            </a:lvl9pPr>
          </a:lstStyle>
          <a:p xmlns:a="http://schemas.openxmlformats.org/drawingml/2006/main">
            <a:pPr>
              <a:defRPr sz="1875" b="1">
                <a:solidFill>
                  <a:srgbClr val="17384C"/>
                </a:solidFill>
              </a:defRPr>
            </a:pPr>
            <a:r>
              <a:rPr sz="1875" b="1">
                <a:solidFill>
                  <a:srgbClr val="17384C"/>
                </a:solidFill>
              </a:rPr>
              <a:t>Policy checks</a:t>
            </a:r>
          </a:p>
          <a:p xmlns:a="http://schemas.openxmlformats.org/drawingml/2006/main">
            <a:pPr>
              <a:defRPr sz="1875" b="1">
                <a:solidFill>
                  <a:srgbClr val="17384C"/>
                </a:solidFill>
              </a:defRPr>
            </a:pPr>
            <a:r>
              <a:rPr sz="1875" b="1">
                <a:solidFill>
                  <a:srgbClr val="17384C"/>
                </a:solidFill>
              </a:rPr>
              <a:t>and response</a:t>
            </a:r>
          </a:p>
        </p:txBody>
      </p:sp>
      <p:sp>
        <p:nvSpPr>
          <p:cNvPr id="13" name="">
            <a:extLst xmlns:a="http://schemas.openxmlformats.org/drawingml/2006/main">
              <a:ext uri="{FF2B5EF4-FFF2-40B4-BE49-F238E27FC236}">
                <a16:creationId xmlns:a16="http://schemas.microsoft.com/office/drawing/2014/main" id="{B5889BAE-7FF6-4D15-9E45-EABC315940D2}"/>
              </a:ext>
            </a:extLst>
          </p:cNvPr>
          <p:cNvSpPr>
            <a:spLocks xmlns:a="http://schemas.openxmlformats.org/drawingml/2006/main" noGrp="1"/>
          </p:cNvSpPr>
          <p:nvPr/>
        </p:nvSpPr>
        <p:spPr>
          <a:xfrm xmlns:a="http://schemas.openxmlformats.org/drawingml/2006/main">
            <a:off x="685800" y="4048125"/>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84C"/>
                </a:solidFill>
              </a:defRPr>
            </a:defPPr>
            <a:lvl1pPr>
              <a:defRPr sz="2175" b="0">
                <a:solidFill>
                  <a:srgbClr val="17384C"/>
                </a:solidFill>
              </a:defRPr>
            </a:lvl1pPr>
            <a:lvl2pPr>
              <a:defRPr sz="2175" b="0">
                <a:solidFill>
                  <a:srgbClr val="17384C"/>
                </a:solidFill>
              </a:defRPr>
            </a:lvl2pPr>
            <a:lvl3pPr>
              <a:defRPr sz="2175" b="0">
                <a:solidFill>
                  <a:srgbClr val="17384C"/>
                </a:solidFill>
              </a:defRPr>
            </a:lvl3pPr>
            <a:lvl4pPr>
              <a:defRPr sz="2175" b="0">
                <a:solidFill>
                  <a:srgbClr val="17384C"/>
                </a:solidFill>
              </a:defRPr>
            </a:lvl4pPr>
            <a:lvl5pPr>
              <a:defRPr sz="2175" b="0">
                <a:solidFill>
                  <a:srgbClr val="17384C"/>
                </a:solidFill>
              </a:defRPr>
            </a:lvl5pPr>
            <a:lvl6pPr>
              <a:defRPr sz="2175" b="0">
                <a:solidFill>
                  <a:srgbClr val="17384C"/>
                </a:solidFill>
              </a:defRPr>
            </a:lvl6pPr>
            <a:lvl7pPr>
              <a:defRPr sz="2175" b="0">
                <a:solidFill>
                  <a:srgbClr val="17384C"/>
                </a:solidFill>
              </a:defRPr>
            </a:lvl7pPr>
            <a:lvl8pPr>
              <a:defRPr sz="2175" b="0">
                <a:solidFill>
                  <a:srgbClr val="17384C"/>
                </a:solidFill>
              </a:defRPr>
            </a:lvl8pPr>
            <a:lvl9pPr>
              <a:defRPr sz="2175" b="0">
                <a:solidFill>
                  <a:srgbClr val="17384C"/>
                </a:solidFill>
              </a:defRPr>
            </a:lvl9pPr>
          </a:lstStyle>
          <a:p xmlns:a="http://schemas.openxmlformats.org/drawingml/2006/main">
            <a:pPr>
              <a:defRPr sz="2175" b="0">
                <a:solidFill>
                  <a:srgbClr val="17384C"/>
                </a:solidFill>
              </a:defRPr>
            </a:pPr>
            <a:r>
              <a:rPr sz="2175" b="0">
                <a:solidFill>
                  <a:srgbClr val="17384C"/>
                </a:solidFill>
              </a:rPr>
              <a:t>Version the model, mappings and preprocessing together</a:t>
            </a:r>
          </a:p>
        </p:txBody>
      </p:sp>
      <p:sp>
        <p:nvSpPr>
          <p:cNvPr id="14" name="">
            <a:extLst xmlns:a="http://schemas.openxmlformats.org/drawingml/2006/main">
              <a:ext uri="{FF2B5EF4-FFF2-40B4-BE49-F238E27FC236}">
                <a16:creationId xmlns:a16="http://schemas.microsoft.com/office/drawing/2014/main" id="{34481258-EACC-4E2E-B861-46CEA79AF51E}"/>
              </a:ext>
            </a:extLst>
          </p:cNvPr>
          <p:cNvSpPr>
            <a:spLocks xmlns:a="http://schemas.openxmlformats.org/drawingml/2006/main" noGrp="1"/>
          </p:cNvSpPr>
          <p:nvPr/>
        </p:nvSpPr>
        <p:spPr>
          <a:xfrm xmlns:a="http://schemas.openxmlformats.org/drawingml/2006/main">
            <a:off x="685800" y="4829175"/>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84C"/>
                </a:solidFill>
              </a:defRPr>
            </a:defPPr>
            <a:lvl1pPr>
              <a:defRPr sz="2175" b="0">
                <a:solidFill>
                  <a:srgbClr val="17384C"/>
                </a:solidFill>
              </a:defRPr>
            </a:lvl1pPr>
            <a:lvl2pPr>
              <a:defRPr sz="2175" b="0">
                <a:solidFill>
                  <a:srgbClr val="17384C"/>
                </a:solidFill>
              </a:defRPr>
            </a:lvl2pPr>
            <a:lvl3pPr>
              <a:defRPr sz="2175" b="0">
                <a:solidFill>
                  <a:srgbClr val="17384C"/>
                </a:solidFill>
              </a:defRPr>
            </a:lvl3pPr>
            <a:lvl4pPr>
              <a:defRPr sz="2175" b="0">
                <a:solidFill>
                  <a:srgbClr val="17384C"/>
                </a:solidFill>
              </a:defRPr>
            </a:lvl4pPr>
            <a:lvl5pPr>
              <a:defRPr sz="2175" b="0">
                <a:solidFill>
                  <a:srgbClr val="17384C"/>
                </a:solidFill>
              </a:defRPr>
            </a:lvl5pPr>
            <a:lvl6pPr>
              <a:defRPr sz="2175" b="0">
                <a:solidFill>
                  <a:srgbClr val="17384C"/>
                </a:solidFill>
              </a:defRPr>
            </a:lvl6pPr>
            <a:lvl7pPr>
              <a:defRPr sz="2175" b="0">
                <a:solidFill>
                  <a:srgbClr val="17384C"/>
                </a:solidFill>
              </a:defRPr>
            </a:lvl7pPr>
            <a:lvl8pPr>
              <a:defRPr sz="2175" b="0">
                <a:solidFill>
                  <a:srgbClr val="17384C"/>
                </a:solidFill>
              </a:defRPr>
            </a:lvl8pPr>
            <a:lvl9pPr>
              <a:defRPr sz="2175" b="0">
                <a:solidFill>
                  <a:srgbClr val="17384C"/>
                </a:solidFill>
              </a:defRPr>
            </a:lvl9pPr>
          </a:lstStyle>
          <a:p xmlns:a="http://schemas.openxmlformats.org/drawingml/2006/main">
            <a:pPr>
              <a:defRPr sz="2175" b="0">
                <a:solidFill>
                  <a:srgbClr val="17384C"/>
                </a:solidFill>
              </a:defRPr>
            </a:pPr>
            <a:r>
              <a:rPr sz="2175" b="0">
                <a:solidFill>
                  <a:srgbClr val="17384C"/>
                </a:solidFill>
              </a:rPr>
              <a:t>Monitor latency, drift, group quality and catalogue exposure</a:t>
            </a:r>
          </a:p>
        </p:txBody>
      </p:sp>
      <p:sp>
        <p:nvSpPr>
          <p:cNvPr id="15" name="">
            <a:extLst xmlns:a="http://schemas.openxmlformats.org/drawingml/2006/main">
              <a:ext uri="{FF2B5EF4-FFF2-40B4-BE49-F238E27FC236}">
                <a16:creationId xmlns:a16="http://schemas.microsoft.com/office/drawing/2014/main" id="{68FF3D94-38E8-43CF-AF2A-7B40071C94DA}"/>
              </a:ext>
            </a:extLst>
          </p:cNvPr>
          <p:cNvSpPr>
            <a:spLocks xmlns:a="http://schemas.openxmlformats.org/drawingml/2006/main" noGrp="1"/>
          </p:cNvSpPr>
          <p:nvPr/>
        </p:nvSpPr>
        <p:spPr>
          <a:xfrm xmlns:a="http://schemas.openxmlformats.org/drawingml/2006/main">
            <a:off x="685800" y="5610225"/>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84C"/>
                </a:solidFill>
              </a:defRPr>
            </a:defPPr>
            <a:lvl1pPr>
              <a:defRPr sz="2175" b="0">
                <a:solidFill>
                  <a:srgbClr val="17384C"/>
                </a:solidFill>
              </a:defRPr>
            </a:lvl1pPr>
            <a:lvl2pPr>
              <a:defRPr sz="2175" b="0">
                <a:solidFill>
                  <a:srgbClr val="17384C"/>
                </a:solidFill>
              </a:defRPr>
            </a:lvl2pPr>
            <a:lvl3pPr>
              <a:defRPr sz="2175" b="0">
                <a:solidFill>
                  <a:srgbClr val="17384C"/>
                </a:solidFill>
              </a:defRPr>
            </a:lvl3pPr>
            <a:lvl4pPr>
              <a:defRPr sz="2175" b="0">
                <a:solidFill>
                  <a:srgbClr val="17384C"/>
                </a:solidFill>
              </a:defRPr>
            </a:lvl4pPr>
            <a:lvl5pPr>
              <a:defRPr sz="2175" b="0">
                <a:solidFill>
                  <a:srgbClr val="17384C"/>
                </a:solidFill>
              </a:defRPr>
            </a:lvl5pPr>
            <a:lvl6pPr>
              <a:defRPr sz="2175" b="0">
                <a:solidFill>
                  <a:srgbClr val="17384C"/>
                </a:solidFill>
              </a:defRPr>
            </a:lvl6pPr>
            <a:lvl7pPr>
              <a:defRPr sz="2175" b="0">
                <a:solidFill>
                  <a:srgbClr val="17384C"/>
                </a:solidFill>
              </a:defRPr>
            </a:lvl7pPr>
            <a:lvl8pPr>
              <a:defRPr sz="2175" b="0">
                <a:solidFill>
                  <a:srgbClr val="17384C"/>
                </a:solidFill>
              </a:defRPr>
            </a:lvl8pPr>
            <a:lvl9pPr>
              <a:defRPr sz="2175" b="0">
                <a:solidFill>
                  <a:srgbClr val="17384C"/>
                </a:solidFill>
              </a:defRPr>
            </a:lvl9pPr>
          </a:lstStyle>
          <a:p xmlns:a="http://schemas.openxmlformats.org/drawingml/2006/main">
            <a:pPr>
              <a:defRPr sz="2175" b="0">
                <a:solidFill>
                  <a:srgbClr val="17384C"/>
                </a:solidFill>
              </a:defRPr>
            </a:pPr>
            <a:r>
              <a:rPr sz="2175" b="0">
                <a:solidFill>
                  <a:srgbClr val="17384C"/>
                </a:solidFill>
              </a:rPr>
              <a:t>Retrain with review, fallback and rollback</a:t>
            </a:r>
          </a:p>
        </p:txBody>
      </p:sp>
    </p:spTree>
    <p:extLst>
      <p:ext uri="{BB962C8B-B14F-4D97-AF65-F5344CB8AC3E}">
        <p14:creationId xmlns:p14="http://schemas.microsoft.com/office/powerpoint/2010/main" val="1068570151"/>
      </p:ext>
    </p:extLst>
  </p:cSld>
</p:sld>
</file>

<file path=ppt/slides/slide1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298B59E-7A87-4ACD-AD17-9D5391407D71}"/>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38E5E2D6-9FDF-4D0D-A6BD-E7359845B2CA}"/>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Conditional deployment recommendation</a:t>
            </a:r>
          </a:p>
        </p:txBody>
      </p:sp>
      <p:sp>
        <p:nvSpPr>
          <p:cNvPr id="4" name="">
            <a:extLst xmlns:a="http://schemas.openxmlformats.org/drawingml/2006/main">
              <a:ext uri="{FF2B5EF4-FFF2-40B4-BE49-F238E27FC236}">
                <a16:creationId xmlns:a16="http://schemas.microsoft.com/office/drawing/2014/main" id="{A4B5BD25-A3A0-487A-A12E-37F420B7618F}"/>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Rendle et al. (2020)</a:t>
            </a:r>
          </a:p>
        </p:txBody>
      </p:sp>
      <p:sp>
        <p:nvSpPr>
          <p:cNvPr id="5" name="">
            <a:extLst xmlns:a="http://schemas.openxmlformats.org/drawingml/2006/main">
              <a:ext uri="{FF2B5EF4-FFF2-40B4-BE49-F238E27FC236}">
                <a16:creationId xmlns:a16="http://schemas.microsoft.com/office/drawing/2014/main" id="{86BCAFF7-F5D7-4F04-8D2E-772EF50B91A4}"/>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15</a:t>
            </a:r>
          </a:p>
        </p:txBody>
      </p:sp>
      <p:graphicFrame>
        <p:nvGraphicFramePr>
          <p:cNvPr id="6" name="">
            <a:extLst xmlns:a="http://schemas.openxmlformats.org/drawingml/2006/main">
              <a:ext uri="{FF2B5EF4-FFF2-40B4-BE49-F238E27FC236}">
                <a16:creationId xmlns:a16="http://schemas.microsoft.com/office/drawing/2014/main" id="{55602D90-AEC7-453F-81A6-FDC8DD295C96}"/>
              </a:ext>
            </a:extLst>
          </p:cNvPr>
          <p:cNvGraphicFramePr/>
          <p:nvPr/>
        </p:nvGraphicFramePr>
        <p:xfrm>
          <a:off xmlns:a="http://schemas.openxmlformats.org/drawingml/2006/main" x="609600" y="2333625"/>
          <a:ext xmlns:a="http://schemas.openxmlformats.org/drawingml/2006/main" cx="10934700" cy="2714625"/>
        </p:xfrm>
        <a:graphic xmlns:a="http://schemas.openxmlformats.org/drawingml/2006/main">
          <a:graphicData uri="http://schemas.openxmlformats.org/drawingml/2006/table">
            <a:tbl>
              <a:tblPr/>
              <a:tblGrid>
                <a:gridCol w="5467350"/>
                <a:gridCol w="5467350"/>
              </a:tblGrid>
              <a:tr h="678656">
                <a:tc>
                  <a:txBody>
                    <a:bodyPr/>
                    <a:lstStyle/>
                    <a:p>
                      <a:r>
                        <a:rPr sz="1725" b="1">
                          <a:solidFill>
                            <a:srgbClr val="FFFFFF"/>
                          </a:solidFill>
                        </a:rPr>
                        <a:t>Initial candidate</a:t>
                      </a:r>
                    </a:p>
                  </a:txBody>
                  <a:tcPr marL="91440" marR="91440" marT="45720" marB="45720">
                    <a:solidFill>
                      <a:srgbClr val="17384C"/>
                    </a:solidFill>
                  </a:tcPr>
                </a:tc>
                <a:tc>
                  <a:txBody>
                    <a:bodyPr/>
                    <a:lstStyle/>
                    <a:p>
                      <a:r>
                        <a:rPr sz="1725" b="1">
                          <a:solidFill>
                            <a:srgbClr val="FFFFFF"/>
                          </a:solidFill>
                        </a:rPr>
                        <a:t>Promotion condition</a:t>
                      </a:r>
                    </a:p>
                  </a:txBody>
                  <a:tcPr marL="91440" marR="91440" marT="45720" marB="45720">
                    <a:solidFill>
                      <a:srgbClr val="17384C"/>
                    </a:solidFill>
                  </a:tcPr>
                </a:tc>
              </a:tr>
              <a:tr h="678656">
                <a:tc>
                  <a:txBody>
                    <a:bodyPr/>
                    <a:lstStyle/>
                    <a:p>
                      <a:r>
                        <a:rPr sz="1725" b="0">
                          <a:solidFill>
                            <a:srgbClr val="17384C"/>
                          </a:solidFill>
                        </a:rPr>
                        <a:t>Matrix factorisation</a:t>
                      </a:r>
                    </a:p>
                  </a:txBody>
                  <a:tcPr marL="91440" marR="91440" marT="45720" marB="45720">
                    <a:solidFill>
                      <a:srgbClr val="EDF3F5"/>
                    </a:solidFill>
                  </a:tcPr>
                </a:tc>
                <a:tc>
                  <a:txBody>
                    <a:bodyPr/>
                    <a:lstStyle/>
                    <a:p>
                      <a:r>
                        <a:rPr sz="1725" b="0">
                          <a:solidFill>
                            <a:srgbClr val="17384C"/>
                          </a:solidFill>
                        </a:rPr>
                        <a:t>Acceptable quality with manageable cost</a:t>
                      </a:r>
                    </a:p>
                  </a:txBody>
                  <a:tcPr marL="91440" marR="91440" marT="45720" marB="45720">
                    <a:solidFill>
                      <a:srgbClr val="EDF3F5"/>
                    </a:solidFill>
                  </a:tcPr>
                </a:tc>
              </a:tr>
              <a:tr h="678656">
                <a:tc>
                  <a:txBody>
                    <a:bodyPr/>
                    <a:lstStyle/>
                    <a:p>
                      <a:r>
                        <a:rPr sz="1725" b="0">
                          <a:solidFill>
                            <a:srgbClr val="17384C"/>
                          </a:solidFill>
                        </a:rPr>
                        <a:t>Neural model</a:t>
                      </a:r>
                    </a:p>
                  </a:txBody>
                  <a:tcPr marL="91440" marR="91440" marT="45720" marB="45720">
                    <a:solidFill>
                      <a:srgbClr val="FFFFFF"/>
                    </a:solidFill>
                  </a:tcPr>
                </a:tc>
                <a:tc>
                  <a:txBody>
                    <a:bodyPr/>
                    <a:lstStyle/>
                    <a:p>
                      <a:r>
                        <a:rPr sz="1725" b="0">
                          <a:solidFill>
                            <a:srgbClr val="17384C"/>
                          </a:solidFill>
                        </a:rPr>
                        <a:t>Stable ranking gain and acceptable group outcomes</a:t>
                      </a:r>
                    </a:p>
                  </a:txBody>
                  <a:tcPr marL="91440" marR="91440" marT="45720" marB="45720">
                    <a:solidFill>
                      <a:srgbClr val="FFFFFF"/>
                    </a:solidFill>
                  </a:tcPr>
                </a:tc>
              </a:tr>
              <a:tr h="678656">
                <a:tc>
                  <a:txBody>
                    <a:bodyPr/>
                    <a:lstStyle/>
                    <a:p>
                      <a:r>
                        <a:rPr sz="1725" b="0">
                          <a:solidFill>
                            <a:srgbClr val="17384C"/>
                          </a:solidFill>
                        </a:rPr>
                        <a:t>Either model</a:t>
                      </a:r>
                    </a:p>
                  </a:txBody>
                  <a:tcPr marL="91440" marR="91440" marT="45720" marB="45720">
                    <a:solidFill>
                      <a:srgbClr val="EDF3F5"/>
                    </a:solidFill>
                  </a:tcPr>
                </a:tc>
                <a:tc>
                  <a:txBody>
                    <a:bodyPr/>
                    <a:lstStyle/>
                    <a:p>
                      <a:r>
                        <a:rPr sz="1725" b="0">
                          <a:solidFill>
                            <a:srgbClr val="17384C"/>
                          </a:solidFill>
                        </a:rPr>
                        <a:t>Permitted data, chronological validation and monitoring</a:t>
                      </a:r>
                    </a:p>
                  </a:txBody>
                  <a:tcPr marL="91440" marR="91440" marT="45720" marB="45720">
                    <a:solidFill>
                      <a:srgbClr val="EDF3F5"/>
                    </a:solidFill>
                  </a:tcPr>
                </a:tc>
              </a:tr>
            </a:tbl>
          </a:graphicData>
        </a:graphic>
      </p:graphicFrame>
      <p:sp>
        <p:nvSpPr>
          <p:cNvPr id="7" name="">
            <a:extLst xmlns:a="http://schemas.openxmlformats.org/drawingml/2006/main">
              <a:ext uri="{FF2B5EF4-FFF2-40B4-BE49-F238E27FC236}">
                <a16:creationId xmlns:a16="http://schemas.microsoft.com/office/drawing/2014/main" id="{C89F7A0A-84C5-4979-BD5B-27CCF4FDEF8B}"/>
              </a:ext>
            </a:extLst>
          </p:cNvPr>
          <p:cNvSpPr>
            <a:spLocks xmlns:a="http://schemas.openxmlformats.org/drawingml/2006/main" noGrp="1"/>
          </p:cNvSpPr>
          <p:nvPr/>
        </p:nvSpPr>
        <p:spPr>
          <a:xfrm xmlns:a="http://schemas.openxmlformats.org/drawingml/2006/main">
            <a:off x="685800" y="56197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47D86"/>
                </a:solidFill>
              </a:defRPr>
            </a:defPPr>
            <a:lvl1pPr>
              <a:defRPr sz="2025" b="1">
                <a:solidFill>
                  <a:srgbClr val="147D86"/>
                </a:solidFill>
              </a:defRPr>
            </a:lvl1pPr>
            <a:lvl2pPr>
              <a:defRPr sz="2025" b="1">
                <a:solidFill>
                  <a:srgbClr val="147D86"/>
                </a:solidFill>
              </a:defRPr>
            </a:lvl2pPr>
            <a:lvl3pPr>
              <a:defRPr sz="2025" b="1">
                <a:solidFill>
                  <a:srgbClr val="147D86"/>
                </a:solidFill>
              </a:defRPr>
            </a:lvl3pPr>
            <a:lvl4pPr>
              <a:defRPr sz="2025" b="1">
                <a:solidFill>
                  <a:srgbClr val="147D86"/>
                </a:solidFill>
              </a:defRPr>
            </a:lvl4pPr>
            <a:lvl5pPr>
              <a:defRPr sz="2025" b="1">
                <a:solidFill>
                  <a:srgbClr val="147D86"/>
                </a:solidFill>
              </a:defRPr>
            </a:lvl5pPr>
            <a:lvl6pPr>
              <a:defRPr sz="2025" b="1">
                <a:solidFill>
                  <a:srgbClr val="147D86"/>
                </a:solidFill>
              </a:defRPr>
            </a:lvl6pPr>
            <a:lvl7pPr>
              <a:defRPr sz="2025" b="1">
                <a:solidFill>
                  <a:srgbClr val="147D86"/>
                </a:solidFill>
              </a:defRPr>
            </a:lvl7pPr>
            <a:lvl8pPr>
              <a:defRPr sz="2025" b="1">
                <a:solidFill>
                  <a:srgbClr val="147D86"/>
                </a:solidFill>
              </a:defRPr>
            </a:lvl8pPr>
            <a:lvl9pPr>
              <a:defRPr sz="2025" b="1">
                <a:solidFill>
                  <a:srgbClr val="147D86"/>
                </a:solidFill>
              </a:defRPr>
            </a:lvl9pPr>
          </a:lstStyle>
          <a:p xmlns:a="http://schemas.openxmlformats.org/drawingml/2006/main">
            <a:pPr>
              <a:defRPr sz="2025" b="1">
                <a:solidFill>
                  <a:srgbClr val="147D86"/>
                </a:solidFill>
              </a:defRPr>
            </a:pPr>
            <a:r>
              <a:rPr sz="2025" b="1">
                <a:solidFill>
                  <a:srgbClr val="147D86"/>
                </a:solidFill>
              </a:rPr>
              <a:t>Provisional engineering judgement; measured results remain pending</a:t>
            </a:r>
          </a:p>
        </p:txBody>
      </p:sp>
    </p:spTree>
    <p:extLst>
      <p:ext uri="{BB962C8B-B14F-4D97-AF65-F5344CB8AC3E}">
        <p14:creationId xmlns:p14="http://schemas.microsoft.com/office/powerpoint/2010/main" val="568001310"/>
      </p:ext>
    </p:extLst>
  </p:cSld>
</p:sld>
</file>

<file path=ppt/slides/slide1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3887C46-867F-4149-8134-E2261A957975}"/>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4778C161-D9AB-4F1C-AF85-269BD0EE6454}"/>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Critical reflection</a:t>
            </a:r>
          </a:p>
        </p:txBody>
      </p:sp>
      <p:sp>
        <p:nvSpPr>
          <p:cNvPr id="4" name="">
            <a:extLst xmlns:a="http://schemas.openxmlformats.org/drawingml/2006/main">
              <a:ext uri="{FF2B5EF4-FFF2-40B4-BE49-F238E27FC236}">
                <a16:creationId xmlns:a16="http://schemas.microsoft.com/office/drawing/2014/main" id="{F249E381-113A-4D98-8FCA-4825527F5091}"/>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DF3466AC-8267-4A3C-9D3D-E10AA6281E96}"/>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16</a:t>
            </a:r>
          </a:p>
        </p:txBody>
      </p:sp>
      <p:sp>
        <p:nvSpPr>
          <p:cNvPr id="6" name="">
            <a:extLst xmlns:a="http://schemas.openxmlformats.org/drawingml/2006/main">
              <a:ext uri="{FF2B5EF4-FFF2-40B4-BE49-F238E27FC236}">
                <a16:creationId xmlns:a16="http://schemas.microsoft.com/office/drawing/2014/main" id="{77217371-75C7-47B1-9736-12ADE0DBBE09}"/>
              </a:ext>
            </a:extLst>
          </p:cNvPr>
          <p:cNvSpPr>
            <a:spLocks xmlns:a="http://schemas.openxmlformats.org/drawingml/2006/main" noGrp="1"/>
          </p:cNvSpPr>
          <p:nvPr/>
        </p:nvSpPr>
        <p:spPr>
          <a:xfrm xmlns:a="http://schemas.openxmlformats.org/drawingml/2006/main">
            <a:off x="685800" y="21907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84C"/>
                </a:solidFill>
              </a:defRPr>
            </a:defPPr>
            <a:lvl1pPr>
              <a:defRPr sz="2175" b="0">
                <a:solidFill>
                  <a:srgbClr val="17384C"/>
                </a:solidFill>
              </a:defRPr>
            </a:lvl1pPr>
            <a:lvl2pPr>
              <a:defRPr sz="2175" b="0">
                <a:solidFill>
                  <a:srgbClr val="17384C"/>
                </a:solidFill>
              </a:defRPr>
            </a:lvl2pPr>
            <a:lvl3pPr>
              <a:defRPr sz="2175" b="0">
                <a:solidFill>
                  <a:srgbClr val="17384C"/>
                </a:solidFill>
              </a:defRPr>
            </a:lvl3pPr>
            <a:lvl4pPr>
              <a:defRPr sz="2175" b="0">
                <a:solidFill>
                  <a:srgbClr val="17384C"/>
                </a:solidFill>
              </a:defRPr>
            </a:lvl4pPr>
            <a:lvl5pPr>
              <a:defRPr sz="2175" b="0">
                <a:solidFill>
                  <a:srgbClr val="17384C"/>
                </a:solidFill>
              </a:defRPr>
            </a:lvl5pPr>
            <a:lvl6pPr>
              <a:defRPr sz="2175" b="0">
                <a:solidFill>
                  <a:srgbClr val="17384C"/>
                </a:solidFill>
              </a:defRPr>
            </a:lvl6pPr>
            <a:lvl7pPr>
              <a:defRPr sz="2175" b="0">
                <a:solidFill>
                  <a:srgbClr val="17384C"/>
                </a:solidFill>
              </a:defRPr>
            </a:lvl7pPr>
            <a:lvl8pPr>
              <a:defRPr sz="2175" b="0">
                <a:solidFill>
                  <a:srgbClr val="17384C"/>
                </a:solidFill>
              </a:defRPr>
            </a:lvl8pPr>
            <a:lvl9pPr>
              <a:defRPr sz="2175" b="0">
                <a:solidFill>
                  <a:srgbClr val="17384C"/>
                </a:solidFill>
              </a:defRPr>
            </a:lvl9pPr>
          </a:lstStyle>
          <a:p xmlns:a="http://schemas.openxmlformats.org/drawingml/2006/main">
            <a:pPr>
              <a:defRPr sz="2175" b="0">
                <a:solidFill>
                  <a:srgbClr val="17384C"/>
                </a:solidFill>
              </a:defRPr>
            </a:pPr>
            <a:r>
              <a:rPr sz="2175" b="0">
                <a:solidFill>
                  <a:srgbClr val="17384C"/>
                </a:solidFill>
              </a:rPr>
              <a:t>Architecture determines capacity and operational constraints</a:t>
            </a:r>
          </a:p>
        </p:txBody>
      </p:sp>
      <p:sp>
        <p:nvSpPr>
          <p:cNvPr id="7" name="">
            <a:extLst xmlns:a="http://schemas.openxmlformats.org/drawingml/2006/main">
              <a:ext uri="{FF2B5EF4-FFF2-40B4-BE49-F238E27FC236}">
                <a16:creationId xmlns:a16="http://schemas.microsoft.com/office/drawing/2014/main" id="{FDEFFD7D-D341-409C-A470-3E05765F6484}"/>
              </a:ext>
            </a:extLst>
          </p:cNvPr>
          <p:cNvSpPr>
            <a:spLocks xmlns:a="http://schemas.openxmlformats.org/drawingml/2006/main" noGrp="1"/>
          </p:cNvSpPr>
          <p:nvPr/>
        </p:nvSpPr>
        <p:spPr>
          <a:xfrm xmlns:a="http://schemas.openxmlformats.org/drawingml/2006/main">
            <a:off x="685800" y="297180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84C"/>
                </a:solidFill>
              </a:defRPr>
            </a:defPPr>
            <a:lvl1pPr>
              <a:defRPr sz="2175" b="0">
                <a:solidFill>
                  <a:srgbClr val="17384C"/>
                </a:solidFill>
              </a:defRPr>
            </a:lvl1pPr>
            <a:lvl2pPr>
              <a:defRPr sz="2175" b="0">
                <a:solidFill>
                  <a:srgbClr val="17384C"/>
                </a:solidFill>
              </a:defRPr>
            </a:lvl2pPr>
            <a:lvl3pPr>
              <a:defRPr sz="2175" b="0">
                <a:solidFill>
                  <a:srgbClr val="17384C"/>
                </a:solidFill>
              </a:defRPr>
            </a:lvl3pPr>
            <a:lvl4pPr>
              <a:defRPr sz="2175" b="0">
                <a:solidFill>
                  <a:srgbClr val="17384C"/>
                </a:solidFill>
              </a:defRPr>
            </a:lvl4pPr>
            <a:lvl5pPr>
              <a:defRPr sz="2175" b="0">
                <a:solidFill>
                  <a:srgbClr val="17384C"/>
                </a:solidFill>
              </a:defRPr>
            </a:lvl5pPr>
            <a:lvl6pPr>
              <a:defRPr sz="2175" b="0">
                <a:solidFill>
                  <a:srgbClr val="17384C"/>
                </a:solidFill>
              </a:defRPr>
            </a:lvl6pPr>
            <a:lvl7pPr>
              <a:defRPr sz="2175" b="0">
                <a:solidFill>
                  <a:srgbClr val="17384C"/>
                </a:solidFill>
              </a:defRPr>
            </a:lvl7pPr>
            <a:lvl8pPr>
              <a:defRPr sz="2175" b="0">
                <a:solidFill>
                  <a:srgbClr val="17384C"/>
                </a:solidFill>
              </a:defRPr>
            </a:lvl8pPr>
            <a:lvl9pPr>
              <a:defRPr sz="2175" b="0">
                <a:solidFill>
                  <a:srgbClr val="17384C"/>
                </a:solidFill>
              </a:defRPr>
            </a:lvl9pPr>
          </a:lstStyle>
          <a:p xmlns:a="http://schemas.openxmlformats.org/drawingml/2006/main">
            <a:pPr>
              <a:defRPr sz="2175" b="0">
                <a:solidFill>
                  <a:srgbClr val="17384C"/>
                </a:solidFill>
              </a:defRPr>
            </a:pPr>
            <a:r>
              <a:rPr sz="2175" b="0">
                <a:solidFill>
                  <a:srgbClr val="17384C"/>
                </a:solidFill>
              </a:rPr>
              <a:t>Validation determines the credibility of reported gains</a:t>
            </a:r>
          </a:p>
        </p:txBody>
      </p:sp>
      <p:sp>
        <p:nvSpPr>
          <p:cNvPr id="8" name="">
            <a:extLst xmlns:a="http://schemas.openxmlformats.org/drawingml/2006/main">
              <a:ext uri="{FF2B5EF4-FFF2-40B4-BE49-F238E27FC236}">
                <a16:creationId xmlns:a16="http://schemas.microsoft.com/office/drawing/2014/main" id="{DB615A00-FDF0-4D3B-9BF0-7DDDDF455F72}"/>
              </a:ext>
            </a:extLst>
          </p:cNvPr>
          <p:cNvSpPr>
            <a:spLocks xmlns:a="http://schemas.openxmlformats.org/drawingml/2006/main" noGrp="1"/>
          </p:cNvSpPr>
          <p:nvPr/>
        </p:nvSpPr>
        <p:spPr>
          <a:xfrm xmlns:a="http://schemas.openxmlformats.org/drawingml/2006/main">
            <a:off x="685800" y="37528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84C"/>
                </a:solidFill>
              </a:defRPr>
            </a:defPPr>
            <a:lvl1pPr>
              <a:defRPr sz="2175" b="0">
                <a:solidFill>
                  <a:srgbClr val="17384C"/>
                </a:solidFill>
              </a:defRPr>
            </a:lvl1pPr>
            <a:lvl2pPr>
              <a:defRPr sz="2175" b="0">
                <a:solidFill>
                  <a:srgbClr val="17384C"/>
                </a:solidFill>
              </a:defRPr>
            </a:lvl2pPr>
            <a:lvl3pPr>
              <a:defRPr sz="2175" b="0">
                <a:solidFill>
                  <a:srgbClr val="17384C"/>
                </a:solidFill>
              </a:defRPr>
            </a:lvl3pPr>
            <a:lvl4pPr>
              <a:defRPr sz="2175" b="0">
                <a:solidFill>
                  <a:srgbClr val="17384C"/>
                </a:solidFill>
              </a:defRPr>
            </a:lvl4pPr>
            <a:lvl5pPr>
              <a:defRPr sz="2175" b="0">
                <a:solidFill>
                  <a:srgbClr val="17384C"/>
                </a:solidFill>
              </a:defRPr>
            </a:lvl5pPr>
            <a:lvl6pPr>
              <a:defRPr sz="2175" b="0">
                <a:solidFill>
                  <a:srgbClr val="17384C"/>
                </a:solidFill>
              </a:defRPr>
            </a:lvl6pPr>
            <a:lvl7pPr>
              <a:defRPr sz="2175" b="0">
                <a:solidFill>
                  <a:srgbClr val="17384C"/>
                </a:solidFill>
              </a:defRPr>
            </a:lvl7pPr>
            <a:lvl8pPr>
              <a:defRPr sz="2175" b="0">
                <a:solidFill>
                  <a:srgbClr val="17384C"/>
                </a:solidFill>
              </a:defRPr>
            </a:lvl8pPr>
            <a:lvl9pPr>
              <a:defRPr sz="2175" b="0">
                <a:solidFill>
                  <a:srgbClr val="17384C"/>
                </a:solidFill>
              </a:defRPr>
            </a:lvl9pPr>
          </a:lstStyle>
          <a:p xmlns:a="http://schemas.openxmlformats.org/drawingml/2006/main">
            <a:pPr>
              <a:defRPr sz="2175" b="0">
                <a:solidFill>
                  <a:srgbClr val="17384C"/>
                </a:solidFill>
              </a:defRPr>
            </a:pPr>
            <a:r>
              <a:rPr sz="2175" b="0">
                <a:solidFill>
                  <a:srgbClr val="17384C"/>
                </a:solidFill>
              </a:rPr>
              <a:t>Ranking and subgroup outcomes inform model selection</a:t>
            </a:r>
          </a:p>
        </p:txBody>
      </p:sp>
      <p:sp>
        <p:nvSpPr>
          <p:cNvPr id="9" name="">
            <a:extLst xmlns:a="http://schemas.openxmlformats.org/drawingml/2006/main">
              <a:ext uri="{FF2B5EF4-FFF2-40B4-BE49-F238E27FC236}">
                <a16:creationId xmlns:a16="http://schemas.microsoft.com/office/drawing/2014/main" id="{08739FB7-77E4-4375-AD3D-A427884A512E}"/>
              </a:ext>
            </a:extLst>
          </p:cNvPr>
          <p:cNvSpPr>
            <a:spLocks xmlns:a="http://schemas.openxmlformats.org/drawingml/2006/main" noGrp="1"/>
          </p:cNvSpPr>
          <p:nvPr/>
        </p:nvSpPr>
        <p:spPr>
          <a:xfrm xmlns:a="http://schemas.openxmlformats.org/drawingml/2006/main">
            <a:off x="685800" y="453390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84C"/>
                </a:solidFill>
              </a:defRPr>
            </a:defPPr>
            <a:lvl1pPr>
              <a:defRPr sz="2175" b="0">
                <a:solidFill>
                  <a:srgbClr val="17384C"/>
                </a:solidFill>
              </a:defRPr>
            </a:lvl1pPr>
            <a:lvl2pPr>
              <a:defRPr sz="2175" b="0">
                <a:solidFill>
                  <a:srgbClr val="17384C"/>
                </a:solidFill>
              </a:defRPr>
            </a:lvl2pPr>
            <a:lvl3pPr>
              <a:defRPr sz="2175" b="0">
                <a:solidFill>
                  <a:srgbClr val="17384C"/>
                </a:solidFill>
              </a:defRPr>
            </a:lvl3pPr>
            <a:lvl4pPr>
              <a:defRPr sz="2175" b="0">
                <a:solidFill>
                  <a:srgbClr val="17384C"/>
                </a:solidFill>
              </a:defRPr>
            </a:lvl4pPr>
            <a:lvl5pPr>
              <a:defRPr sz="2175" b="0">
                <a:solidFill>
                  <a:srgbClr val="17384C"/>
                </a:solidFill>
              </a:defRPr>
            </a:lvl5pPr>
            <a:lvl6pPr>
              <a:defRPr sz="2175" b="0">
                <a:solidFill>
                  <a:srgbClr val="17384C"/>
                </a:solidFill>
              </a:defRPr>
            </a:lvl6pPr>
            <a:lvl7pPr>
              <a:defRPr sz="2175" b="0">
                <a:solidFill>
                  <a:srgbClr val="17384C"/>
                </a:solidFill>
              </a:defRPr>
            </a:lvl7pPr>
            <a:lvl8pPr>
              <a:defRPr sz="2175" b="0">
                <a:solidFill>
                  <a:srgbClr val="17384C"/>
                </a:solidFill>
              </a:defRPr>
            </a:lvl8pPr>
            <a:lvl9pPr>
              <a:defRPr sz="2175" b="0">
                <a:solidFill>
                  <a:srgbClr val="17384C"/>
                </a:solidFill>
              </a:defRPr>
            </a:lvl9pPr>
          </a:lstStyle>
          <a:p xmlns:a="http://schemas.openxmlformats.org/drawingml/2006/main">
            <a:pPr>
              <a:defRPr sz="2175" b="0">
                <a:solidFill>
                  <a:srgbClr val="17384C"/>
                </a:solidFill>
              </a:defRPr>
            </a:pPr>
            <a:r>
              <a:rPr sz="2175" b="0">
                <a:solidFill>
                  <a:srgbClr val="17384C"/>
                </a:solidFill>
              </a:rPr>
              <a:t>A deployment decision requires completed execution evidence</a:t>
            </a:r>
          </a:p>
        </p:txBody>
      </p:sp>
    </p:spTree>
    <p:extLst>
      <p:ext uri="{BB962C8B-B14F-4D97-AF65-F5344CB8AC3E}">
        <p14:creationId xmlns:p14="http://schemas.microsoft.com/office/powerpoint/2010/main" val="327747611"/>
      </p:ext>
    </p:extLst>
  </p:cSld>
</p:sld>
</file>

<file path=ppt/slides/slide1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EA72A89-230F-428A-B0B5-CD9D38F8F85A}"/>
              </a:ext>
            </a:extLst>
          </p:cNvPr>
          <p:cNvSpPr>
            <a:spLocks xmlns:a="http://schemas.openxmlformats.org/drawingml/2006/main" noGrp="1"/>
          </p:cNvSpPr>
          <p:nvPr/>
        </p:nvSpPr>
        <p:spPr>
          <a:xfrm xmlns:a="http://schemas.openxmlformats.org/drawingml/2006/main">
            <a:off x="609600" y="285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pPr>
              <a:defRPr sz="1125" b="0">
                <a:solidFill>
                  <a:srgbClr val="52616C"/>
                </a:solidFill>
              </a:defRPr>
            </a:pPr>
            <a:r>
              <a:rPr sz="1125" b="0">
                <a:solidFill>
                  <a:srgbClr val="52616C"/>
                </a:solidFill>
              </a:rPr>
              <a:t>ML_PCOM7E  JULY 2026</a:t>
            </a:r>
          </a:p>
        </p:txBody>
      </p:sp>
      <p:sp>
        <p:nvSpPr>
          <p:cNvPr id="3" name="">
            <a:extLst xmlns:a="http://schemas.openxmlformats.org/drawingml/2006/main">
              <a:ext uri="{FF2B5EF4-FFF2-40B4-BE49-F238E27FC236}">
                <a16:creationId xmlns:a16="http://schemas.microsoft.com/office/drawing/2014/main" id="{B61760BC-0409-4C02-85E4-F39B4A11DA35}"/>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84C"/>
                </a:solidFill>
              </a:defRPr>
            </a:defPPr>
            <a:lvl1pPr>
              <a:defRPr sz="3300" b="1">
                <a:solidFill>
                  <a:srgbClr val="17384C"/>
                </a:solidFill>
              </a:defRPr>
            </a:lvl1pPr>
            <a:lvl2pPr>
              <a:defRPr sz="3300" b="1">
                <a:solidFill>
                  <a:srgbClr val="17384C"/>
                </a:solidFill>
              </a:defRPr>
            </a:lvl2pPr>
            <a:lvl3pPr>
              <a:defRPr sz="3300" b="1">
                <a:solidFill>
                  <a:srgbClr val="17384C"/>
                </a:solidFill>
              </a:defRPr>
            </a:lvl3pPr>
            <a:lvl4pPr>
              <a:defRPr sz="3300" b="1">
                <a:solidFill>
                  <a:srgbClr val="17384C"/>
                </a:solidFill>
              </a:defRPr>
            </a:lvl4pPr>
            <a:lvl5pPr>
              <a:defRPr sz="3300" b="1">
                <a:solidFill>
                  <a:srgbClr val="17384C"/>
                </a:solidFill>
              </a:defRPr>
            </a:lvl5pPr>
            <a:lvl6pPr>
              <a:defRPr sz="3300" b="1">
                <a:solidFill>
                  <a:srgbClr val="17384C"/>
                </a:solidFill>
              </a:defRPr>
            </a:lvl6pPr>
            <a:lvl7pPr>
              <a:defRPr sz="3300" b="1">
                <a:solidFill>
                  <a:srgbClr val="17384C"/>
                </a:solidFill>
              </a:defRPr>
            </a:lvl7pPr>
            <a:lvl8pPr>
              <a:defRPr sz="3300" b="1">
                <a:solidFill>
                  <a:srgbClr val="17384C"/>
                </a:solidFill>
              </a:defRPr>
            </a:lvl8pPr>
            <a:lvl9pPr>
              <a:defRPr sz="3300" b="1">
                <a:solidFill>
                  <a:srgbClr val="17384C"/>
                </a:solidFill>
              </a:defRPr>
            </a:lvl9pPr>
          </a:lstStyle>
          <a:p xmlns:a="http://schemas.openxmlformats.org/drawingml/2006/main">
            <a:pPr>
              <a:defRPr sz="3300" b="1">
                <a:solidFill>
                  <a:srgbClr val="17384C"/>
                </a:solidFill>
              </a:defRPr>
            </a:pPr>
            <a:r>
              <a:rPr sz="3300" b="1">
                <a:solidFill>
                  <a:srgbClr val="17384C"/>
                </a:solidFill>
              </a:rPr>
              <a:t>References</a:t>
            </a:r>
          </a:p>
        </p:txBody>
      </p:sp>
      <p:sp>
        <p:nvSpPr>
          <p:cNvPr id="4" name="">
            <a:extLst xmlns:a="http://schemas.openxmlformats.org/drawingml/2006/main">
              <a:ext uri="{FF2B5EF4-FFF2-40B4-BE49-F238E27FC236}">
                <a16:creationId xmlns:a16="http://schemas.microsoft.com/office/drawing/2014/main" id="{76167CC2-2CDA-4D81-8787-B505EFE1C5CC}"/>
              </a:ext>
            </a:extLst>
          </p:cNvPr>
          <p:cNvSpPr>
            <a:spLocks xmlns:a="http://schemas.openxmlformats.org/drawingml/2006/main" noGrp="1"/>
          </p:cNvSpPr>
          <p:nvPr/>
        </p:nvSpPr>
        <p:spPr>
          <a:xfrm xmlns:a="http://schemas.openxmlformats.org/drawingml/2006/main">
            <a:off x="609600" y="63341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16C"/>
                </a:solidFill>
              </a:defRPr>
            </a:defPPr>
            <a:lvl1pPr>
              <a:defRPr sz="1125" b="0">
                <a:solidFill>
                  <a:srgbClr val="52616C"/>
                </a:solidFill>
              </a:defRPr>
            </a:lvl1pPr>
            <a:lvl2pPr>
              <a:defRPr sz="1125" b="0">
                <a:solidFill>
                  <a:srgbClr val="52616C"/>
                </a:solidFill>
              </a:defRPr>
            </a:lvl2pPr>
            <a:lvl3pPr>
              <a:defRPr sz="1125" b="0">
                <a:solidFill>
                  <a:srgbClr val="52616C"/>
                </a:solidFill>
              </a:defRPr>
            </a:lvl3pPr>
            <a:lvl4pPr>
              <a:defRPr sz="1125" b="0">
                <a:solidFill>
                  <a:srgbClr val="52616C"/>
                </a:solidFill>
              </a:defRPr>
            </a:lvl4pPr>
            <a:lvl5pPr>
              <a:defRPr sz="1125" b="0">
                <a:solidFill>
                  <a:srgbClr val="52616C"/>
                </a:solidFill>
              </a:defRPr>
            </a:lvl5pPr>
            <a:lvl6pPr>
              <a:defRPr sz="1125" b="0">
                <a:solidFill>
                  <a:srgbClr val="52616C"/>
                </a:solidFill>
              </a:defRPr>
            </a:lvl6pPr>
            <a:lvl7pPr>
              <a:defRPr sz="1125" b="0">
                <a:solidFill>
                  <a:srgbClr val="52616C"/>
                </a:solidFill>
              </a:defRPr>
            </a:lvl7pPr>
            <a:lvl8pPr>
              <a:defRPr sz="1125" b="0">
                <a:solidFill>
                  <a:srgbClr val="52616C"/>
                </a:solidFill>
              </a:defRPr>
            </a:lvl8pPr>
            <a:lvl9pPr>
              <a:defRPr sz="1125" b="0">
                <a:solidFill>
                  <a:srgbClr val="52616C"/>
                </a:solidFill>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7A0D3E18-1242-48E1-A45F-E3B48ADF59B3}"/>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D86"/>
                </a:solidFill>
              </a:defRPr>
            </a:defPPr>
            <a:lvl1pPr>
              <a:defRPr sz="1200" b="1">
                <a:solidFill>
                  <a:srgbClr val="147D86"/>
                </a:solidFill>
              </a:defRPr>
            </a:lvl1pPr>
            <a:lvl2pPr>
              <a:defRPr sz="1200" b="1">
                <a:solidFill>
                  <a:srgbClr val="147D86"/>
                </a:solidFill>
              </a:defRPr>
            </a:lvl2pPr>
            <a:lvl3pPr>
              <a:defRPr sz="1200" b="1">
                <a:solidFill>
                  <a:srgbClr val="147D86"/>
                </a:solidFill>
              </a:defRPr>
            </a:lvl3pPr>
            <a:lvl4pPr>
              <a:defRPr sz="1200" b="1">
                <a:solidFill>
                  <a:srgbClr val="147D86"/>
                </a:solidFill>
              </a:defRPr>
            </a:lvl4pPr>
            <a:lvl5pPr>
              <a:defRPr sz="1200" b="1">
                <a:solidFill>
                  <a:srgbClr val="147D86"/>
                </a:solidFill>
              </a:defRPr>
            </a:lvl5pPr>
            <a:lvl6pPr>
              <a:defRPr sz="1200" b="1">
                <a:solidFill>
                  <a:srgbClr val="147D86"/>
                </a:solidFill>
              </a:defRPr>
            </a:lvl6pPr>
            <a:lvl7pPr>
              <a:defRPr sz="1200" b="1">
                <a:solidFill>
                  <a:srgbClr val="147D86"/>
                </a:solidFill>
              </a:defRPr>
            </a:lvl7pPr>
            <a:lvl8pPr>
              <a:defRPr sz="1200" b="1">
                <a:solidFill>
                  <a:srgbClr val="147D86"/>
                </a:solidFill>
              </a:defRPr>
            </a:lvl8pPr>
            <a:lvl9pPr>
              <a:defRPr sz="1200" b="1">
                <a:solidFill>
                  <a:srgbClr val="147D86"/>
                </a:solidFill>
              </a:defRPr>
            </a:lvl9pPr>
          </a:lstStyle>
          <a:p xmlns:a="http://schemas.openxmlformats.org/drawingml/2006/main">
            <a:pPr>
              <a:defRPr sz="1200" b="1">
                <a:solidFill>
                  <a:srgbClr val="147D86"/>
                </a:solidFill>
              </a:defRPr>
            </a:pPr>
            <a:r>
              <a:rPr sz="1200" b="1">
                <a:solidFill>
                  <a:srgbClr val="147D86"/>
                </a:solidFill>
              </a:rPr>
              <a:t>17</a:t>
            </a:r>
          </a:p>
        </p:txBody>
      </p:sp>
      <p:sp>
        <p:nvSpPr>
          <p:cNvPr id="6" name="">
            <a:extLst xmlns:a="http://schemas.openxmlformats.org/drawingml/2006/main">
              <a:ext uri="{FF2B5EF4-FFF2-40B4-BE49-F238E27FC236}">
                <a16:creationId xmlns:a16="http://schemas.microsoft.com/office/drawing/2014/main" id="{50C8ED91-7B0B-4B99-9E0F-0D34D58AD265}"/>
              </a:ext>
            </a:extLst>
          </p:cNvPr>
          <p:cNvSpPr>
            <a:spLocks xmlns:a="http://schemas.openxmlformats.org/drawingml/2006/main" noGrp="1"/>
          </p:cNvSpPr>
          <p:nvPr/>
        </p:nvSpPr>
        <p:spPr>
          <a:xfrm xmlns:a="http://schemas.openxmlformats.org/drawingml/2006/main">
            <a:off x="609600" y="1857375"/>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84C"/>
                </a:solidFill>
              </a:defRPr>
            </a:defPPr>
            <a:lvl1pPr>
              <a:defRPr sz="1500" b="0">
                <a:solidFill>
                  <a:srgbClr val="17384C"/>
                </a:solidFill>
              </a:defRPr>
            </a:lvl1pPr>
            <a:lvl2pPr>
              <a:defRPr sz="1500" b="0">
                <a:solidFill>
                  <a:srgbClr val="17384C"/>
                </a:solidFill>
              </a:defRPr>
            </a:lvl2pPr>
            <a:lvl3pPr>
              <a:defRPr sz="1500" b="0">
                <a:solidFill>
                  <a:srgbClr val="17384C"/>
                </a:solidFill>
              </a:defRPr>
            </a:lvl3pPr>
            <a:lvl4pPr>
              <a:defRPr sz="1500" b="0">
                <a:solidFill>
                  <a:srgbClr val="17384C"/>
                </a:solidFill>
              </a:defRPr>
            </a:lvl4pPr>
            <a:lvl5pPr>
              <a:defRPr sz="1500" b="0">
                <a:solidFill>
                  <a:srgbClr val="17384C"/>
                </a:solidFill>
              </a:defRPr>
            </a:lvl5pPr>
            <a:lvl6pPr>
              <a:defRPr sz="1500" b="0">
                <a:solidFill>
                  <a:srgbClr val="17384C"/>
                </a:solidFill>
              </a:defRPr>
            </a:lvl6pPr>
            <a:lvl7pPr>
              <a:defRPr sz="1500" b="0">
                <a:solidFill>
                  <a:srgbClr val="17384C"/>
                </a:solidFill>
              </a:defRPr>
            </a:lvl7pPr>
            <a:lvl8pPr>
              <a:defRPr sz="1500" b="0">
                <a:solidFill>
                  <a:srgbClr val="17384C"/>
                </a:solidFill>
              </a:defRPr>
            </a:lvl8pPr>
            <a:lvl9pPr>
              <a:defRPr sz="1500" b="0">
                <a:solidFill>
                  <a:srgbClr val="17384C"/>
                </a:solidFill>
              </a:defRPr>
            </a:lvl9pPr>
          </a:lstStyle>
          <a:p xmlns:a="http://schemas.openxmlformats.org/drawingml/2006/main">
            <a:pPr>
              <a:defRPr sz="1500" b="0">
                <a:solidFill>
                  <a:srgbClr val="17384C"/>
                </a:solidFill>
              </a:defRPr>
            </a:pPr>
            <a:r>
              <a:rPr sz="1500" b="0">
                <a:solidFill>
                  <a:srgbClr val="17384C"/>
                </a:solidFill>
              </a:rPr>
              <a:t>GroupLens Research (1998) MovieLens 100K dataset: README. Available at: https://files.grouplens.org/datasets/movielens/ml-100k-README.txt (Accessed: 19 October 2026).</a:t>
            </a:r>
          </a:p>
        </p:txBody>
      </p:sp>
      <p:sp>
        <p:nvSpPr>
          <p:cNvPr id="7" name="">
            <a:extLst xmlns:a="http://schemas.openxmlformats.org/drawingml/2006/main">
              <a:ext uri="{FF2B5EF4-FFF2-40B4-BE49-F238E27FC236}">
                <a16:creationId xmlns:a16="http://schemas.microsoft.com/office/drawing/2014/main" id="{F531A9C2-C804-4055-8B72-067AD5B566AD}"/>
              </a:ext>
            </a:extLst>
          </p:cNvPr>
          <p:cNvSpPr>
            <a:spLocks xmlns:a="http://schemas.openxmlformats.org/drawingml/2006/main" noGrp="1"/>
          </p:cNvSpPr>
          <p:nvPr/>
        </p:nvSpPr>
        <p:spPr>
          <a:xfrm xmlns:a="http://schemas.openxmlformats.org/drawingml/2006/main">
            <a:off x="609600" y="2562225"/>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84C"/>
                </a:solidFill>
              </a:defRPr>
            </a:defPPr>
            <a:lvl1pPr>
              <a:defRPr sz="1500" b="0">
                <a:solidFill>
                  <a:srgbClr val="17384C"/>
                </a:solidFill>
              </a:defRPr>
            </a:lvl1pPr>
            <a:lvl2pPr>
              <a:defRPr sz="1500" b="0">
                <a:solidFill>
                  <a:srgbClr val="17384C"/>
                </a:solidFill>
              </a:defRPr>
            </a:lvl2pPr>
            <a:lvl3pPr>
              <a:defRPr sz="1500" b="0">
                <a:solidFill>
                  <a:srgbClr val="17384C"/>
                </a:solidFill>
              </a:defRPr>
            </a:lvl3pPr>
            <a:lvl4pPr>
              <a:defRPr sz="1500" b="0">
                <a:solidFill>
                  <a:srgbClr val="17384C"/>
                </a:solidFill>
              </a:defRPr>
            </a:lvl4pPr>
            <a:lvl5pPr>
              <a:defRPr sz="1500" b="0">
                <a:solidFill>
                  <a:srgbClr val="17384C"/>
                </a:solidFill>
              </a:defRPr>
            </a:lvl5pPr>
            <a:lvl6pPr>
              <a:defRPr sz="1500" b="0">
                <a:solidFill>
                  <a:srgbClr val="17384C"/>
                </a:solidFill>
              </a:defRPr>
            </a:lvl6pPr>
            <a:lvl7pPr>
              <a:defRPr sz="1500" b="0">
                <a:solidFill>
                  <a:srgbClr val="17384C"/>
                </a:solidFill>
              </a:defRPr>
            </a:lvl7pPr>
            <a:lvl8pPr>
              <a:defRPr sz="1500" b="0">
                <a:solidFill>
                  <a:srgbClr val="17384C"/>
                </a:solidFill>
              </a:defRPr>
            </a:lvl8pPr>
            <a:lvl9pPr>
              <a:defRPr sz="1500" b="0">
                <a:solidFill>
                  <a:srgbClr val="17384C"/>
                </a:solidFill>
              </a:defRPr>
            </a:lvl9pPr>
          </a:lstStyle>
          <a:p xmlns:a="http://schemas.openxmlformats.org/drawingml/2006/main">
            <a:pPr>
              <a:defRPr sz="1500" b="0">
                <a:solidFill>
                  <a:srgbClr val="17384C"/>
                </a:solidFill>
              </a:defRPr>
            </a:pPr>
            <a:r>
              <a:rPr sz="1500" b="0">
                <a:solidFill>
                  <a:srgbClr val="17384C"/>
                </a:solidFill>
              </a:rPr>
              <a:t>Harper, F.M. and Konstan, J.A. (2015) ‘The MovieLens datasets: History and context’, ACM Transactions on Interactive Intelligent Systems, 5(4), article 19, pp. 1–19. https://doi.org/10.1145/2827872.</a:t>
            </a:r>
          </a:p>
        </p:txBody>
      </p:sp>
      <p:sp>
        <p:nvSpPr>
          <p:cNvPr id="8" name="">
            <a:extLst xmlns:a="http://schemas.openxmlformats.org/drawingml/2006/main">
              <a:ext uri="{FF2B5EF4-FFF2-40B4-BE49-F238E27FC236}">
                <a16:creationId xmlns:a16="http://schemas.microsoft.com/office/drawing/2014/main" id="{1CFF0DEB-A17F-4B4C-A8C0-065EB93266A0}"/>
              </a:ext>
            </a:extLst>
          </p:cNvPr>
          <p:cNvSpPr>
            <a:spLocks xmlns:a="http://schemas.openxmlformats.org/drawingml/2006/main" noGrp="1"/>
          </p:cNvSpPr>
          <p:nvPr/>
        </p:nvSpPr>
        <p:spPr>
          <a:xfrm xmlns:a="http://schemas.openxmlformats.org/drawingml/2006/main">
            <a:off x="609600" y="3267075"/>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84C"/>
                </a:solidFill>
              </a:defRPr>
            </a:defPPr>
            <a:lvl1pPr>
              <a:defRPr sz="1500" b="0">
                <a:solidFill>
                  <a:srgbClr val="17384C"/>
                </a:solidFill>
              </a:defRPr>
            </a:lvl1pPr>
            <a:lvl2pPr>
              <a:defRPr sz="1500" b="0">
                <a:solidFill>
                  <a:srgbClr val="17384C"/>
                </a:solidFill>
              </a:defRPr>
            </a:lvl2pPr>
            <a:lvl3pPr>
              <a:defRPr sz="1500" b="0">
                <a:solidFill>
                  <a:srgbClr val="17384C"/>
                </a:solidFill>
              </a:defRPr>
            </a:lvl3pPr>
            <a:lvl4pPr>
              <a:defRPr sz="1500" b="0">
                <a:solidFill>
                  <a:srgbClr val="17384C"/>
                </a:solidFill>
              </a:defRPr>
            </a:lvl4pPr>
            <a:lvl5pPr>
              <a:defRPr sz="1500" b="0">
                <a:solidFill>
                  <a:srgbClr val="17384C"/>
                </a:solidFill>
              </a:defRPr>
            </a:lvl5pPr>
            <a:lvl6pPr>
              <a:defRPr sz="1500" b="0">
                <a:solidFill>
                  <a:srgbClr val="17384C"/>
                </a:solidFill>
              </a:defRPr>
            </a:lvl6pPr>
            <a:lvl7pPr>
              <a:defRPr sz="1500" b="0">
                <a:solidFill>
                  <a:srgbClr val="17384C"/>
                </a:solidFill>
              </a:defRPr>
            </a:lvl7pPr>
            <a:lvl8pPr>
              <a:defRPr sz="1500" b="0">
                <a:solidFill>
                  <a:srgbClr val="17384C"/>
                </a:solidFill>
              </a:defRPr>
            </a:lvl8pPr>
            <a:lvl9pPr>
              <a:defRPr sz="1500" b="0">
                <a:solidFill>
                  <a:srgbClr val="17384C"/>
                </a:solidFill>
              </a:defRPr>
            </a:lvl9pPr>
          </a:lstStyle>
          <a:p xmlns:a="http://schemas.openxmlformats.org/drawingml/2006/main">
            <a:pPr>
              <a:defRPr sz="1500" b="0">
                <a:solidFill>
                  <a:srgbClr val="17384C"/>
                </a:solidFill>
              </a:defRPr>
            </a:pPr>
            <a:r>
              <a:rPr sz="1500" b="0">
                <a:solidFill>
                  <a:srgbClr val="17384C"/>
                </a:solidFill>
              </a:rPr>
              <a:t>He, X., Liao, L., Zhang, H., Nie, L., Hu, X. and Chua, T.-S. (2017) ‘Neural collaborative filtering’, Proceedings of the 26th International Conference on World Wide Web, pp. 173–182. https://doi.org/10.1145/3038912.3052569.</a:t>
            </a:r>
          </a:p>
        </p:txBody>
      </p:sp>
      <p:sp>
        <p:nvSpPr>
          <p:cNvPr id="9" name="">
            <a:extLst xmlns:a="http://schemas.openxmlformats.org/drawingml/2006/main">
              <a:ext uri="{FF2B5EF4-FFF2-40B4-BE49-F238E27FC236}">
                <a16:creationId xmlns:a16="http://schemas.microsoft.com/office/drawing/2014/main" id="{E8C022D0-FCC2-43CD-B812-320886FA788D}"/>
              </a:ext>
            </a:extLst>
          </p:cNvPr>
          <p:cNvSpPr>
            <a:spLocks xmlns:a="http://schemas.openxmlformats.org/drawingml/2006/main" noGrp="1"/>
          </p:cNvSpPr>
          <p:nvPr/>
        </p:nvSpPr>
        <p:spPr>
          <a:xfrm xmlns:a="http://schemas.openxmlformats.org/drawingml/2006/main">
            <a:off x="609600" y="3971925"/>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84C"/>
                </a:solidFill>
              </a:defRPr>
            </a:defPPr>
            <a:lvl1pPr>
              <a:defRPr sz="1500" b="0">
                <a:solidFill>
                  <a:srgbClr val="17384C"/>
                </a:solidFill>
              </a:defRPr>
            </a:lvl1pPr>
            <a:lvl2pPr>
              <a:defRPr sz="1500" b="0">
                <a:solidFill>
                  <a:srgbClr val="17384C"/>
                </a:solidFill>
              </a:defRPr>
            </a:lvl2pPr>
            <a:lvl3pPr>
              <a:defRPr sz="1500" b="0">
                <a:solidFill>
                  <a:srgbClr val="17384C"/>
                </a:solidFill>
              </a:defRPr>
            </a:lvl3pPr>
            <a:lvl4pPr>
              <a:defRPr sz="1500" b="0">
                <a:solidFill>
                  <a:srgbClr val="17384C"/>
                </a:solidFill>
              </a:defRPr>
            </a:lvl4pPr>
            <a:lvl5pPr>
              <a:defRPr sz="1500" b="0">
                <a:solidFill>
                  <a:srgbClr val="17384C"/>
                </a:solidFill>
              </a:defRPr>
            </a:lvl5pPr>
            <a:lvl6pPr>
              <a:defRPr sz="1500" b="0">
                <a:solidFill>
                  <a:srgbClr val="17384C"/>
                </a:solidFill>
              </a:defRPr>
            </a:lvl6pPr>
            <a:lvl7pPr>
              <a:defRPr sz="1500" b="0">
                <a:solidFill>
                  <a:srgbClr val="17384C"/>
                </a:solidFill>
              </a:defRPr>
            </a:lvl7pPr>
            <a:lvl8pPr>
              <a:defRPr sz="1500" b="0">
                <a:solidFill>
                  <a:srgbClr val="17384C"/>
                </a:solidFill>
              </a:defRPr>
            </a:lvl8pPr>
            <a:lvl9pPr>
              <a:defRPr sz="1500" b="0">
                <a:solidFill>
                  <a:srgbClr val="17384C"/>
                </a:solidFill>
              </a:defRPr>
            </a:lvl9pPr>
          </a:lstStyle>
          <a:p xmlns:a="http://schemas.openxmlformats.org/drawingml/2006/main">
            <a:pPr>
              <a:defRPr sz="1500" b="0">
                <a:solidFill>
                  <a:srgbClr val="17384C"/>
                </a:solidFill>
              </a:defRPr>
            </a:pPr>
            <a:r>
              <a:rPr sz="1500" b="0">
                <a:solidFill>
                  <a:srgbClr val="17384C"/>
                </a:solidFill>
              </a:rPr>
              <a:t>Koren, Y., Bell, R. and Volinsky, C. (2009) ‘Matrix factorization techniques for recommender systems’, Computer, 42(8), pp. 30–37. https://doi.org/10.1109/MC.2009.263.</a:t>
            </a:r>
          </a:p>
        </p:txBody>
      </p:sp>
      <p:sp>
        <p:nvSpPr>
          <p:cNvPr id="10" name="">
            <a:extLst xmlns:a="http://schemas.openxmlformats.org/drawingml/2006/main">
              <a:ext uri="{FF2B5EF4-FFF2-40B4-BE49-F238E27FC236}">
                <a16:creationId xmlns:a16="http://schemas.microsoft.com/office/drawing/2014/main" id="{5E88BCF1-531F-48A9-BC3E-E5A00206715B}"/>
              </a:ext>
            </a:extLst>
          </p:cNvPr>
          <p:cNvSpPr>
            <a:spLocks xmlns:a="http://schemas.openxmlformats.org/drawingml/2006/main" noGrp="1"/>
          </p:cNvSpPr>
          <p:nvPr/>
        </p:nvSpPr>
        <p:spPr>
          <a:xfrm xmlns:a="http://schemas.openxmlformats.org/drawingml/2006/main">
            <a:off x="609600" y="4676775"/>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84C"/>
                </a:solidFill>
              </a:defRPr>
            </a:defPPr>
            <a:lvl1pPr>
              <a:defRPr sz="1500" b="0">
                <a:solidFill>
                  <a:srgbClr val="17384C"/>
                </a:solidFill>
              </a:defRPr>
            </a:lvl1pPr>
            <a:lvl2pPr>
              <a:defRPr sz="1500" b="0">
                <a:solidFill>
                  <a:srgbClr val="17384C"/>
                </a:solidFill>
              </a:defRPr>
            </a:lvl2pPr>
            <a:lvl3pPr>
              <a:defRPr sz="1500" b="0">
                <a:solidFill>
                  <a:srgbClr val="17384C"/>
                </a:solidFill>
              </a:defRPr>
            </a:lvl3pPr>
            <a:lvl4pPr>
              <a:defRPr sz="1500" b="0">
                <a:solidFill>
                  <a:srgbClr val="17384C"/>
                </a:solidFill>
              </a:defRPr>
            </a:lvl4pPr>
            <a:lvl5pPr>
              <a:defRPr sz="1500" b="0">
                <a:solidFill>
                  <a:srgbClr val="17384C"/>
                </a:solidFill>
              </a:defRPr>
            </a:lvl5pPr>
            <a:lvl6pPr>
              <a:defRPr sz="1500" b="0">
                <a:solidFill>
                  <a:srgbClr val="17384C"/>
                </a:solidFill>
              </a:defRPr>
            </a:lvl6pPr>
            <a:lvl7pPr>
              <a:defRPr sz="1500" b="0">
                <a:solidFill>
                  <a:srgbClr val="17384C"/>
                </a:solidFill>
              </a:defRPr>
            </a:lvl7pPr>
            <a:lvl8pPr>
              <a:defRPr sz="1500" b="0">
                <a:solidFill>
                  <a:srgbClr val="17384C"/>
                </a:solidFill>
              </a:defRPr>
            </a:lvl8pPr>
            <a:lvl9pPr>
              <a:defRPr sz="1500" b="0">
                <a:solidFill>
                  <a:srgbClr val="17384C"/>
                </a:solidFill>
              </a:defRPr>
            </a:lvl9pPr>
          </a:lstStyle>
          <a:p xmlns:a="http://schemas.openxmlformats.org/drawingml/2006/main">
            <a:pPr>
              <a:defRPr sz="1500" b="0">
                <a:solidFill>
                  <a:srgbClr val="17384C"/>
                </a:solidFill>
              </a:defRPr>
            </a:pPr>
            <a:r>
              <a:rPr sz="1500" b="0">
                <a:solidFill>
                  <a:srgbClr val="17384C"/>
                </a:solidFill>
              </a:rPr>
              <a:t>Rendle, S., Krichene, W., Zhang, L. and Anderson, J. (2020) ‘Neural collaborative filtering vs. matrix factorization revisited’, Proceedings of the 14th ACM Conference on Recommender Systems, pp. 240–248. https://doi.org/10.1145/3383313.3412488.</a:t>
            </a:r>
          </a:p>
        </p:txBody>
      </p:sp>
      <p:sp>
        <p:nvSpPr>
          <p:cNvPr id="11" name="">
            <a:extLst xmlns:a="http://schemas.openxmlformats.org/drawingml/2006/main">
              <a:ext uri="{FF2B5EF4-FFF2-40B4-BE49-F238E27FC236}">
                <a16:creationId xmlns:a16="http://schemas.microsoft.com/office/drawing/2014/main" id="{AE9C6253-180A-43A1-803F-9BAD552F441C}"/>
              </a:ext>
            </a:extLst>
          </p:cNvPr>
          <p:cNvSpPr>
            <a:spLocks xmlns:a="http://schemas.openxmlformats.org/drawingml/2006/main" noGrp="1"/>
          </p:cNvSpPr>
          <p:nvPr/>
        </p:nvSpPr>
        <p:spPr>
          <a:xfrm xmlns:a="http://schemas.openxmlformats.org/drawingml/2006/main">
            <a:off x="609600" y="5381625"/>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84C"/>
                </a:solidFill>
              </a:defRPr>
            </a:defPPr>
            <a:lvl1pPr>
              <a:defRPr sz="1500" b="0">
                <a:solidFill>
                  <a:srgbClr val="17384C"/>
                </a:solidFill>
              </a:defRPr>
            </a:lvl1pPr>
            <a:lvl2pPr>
              <a:defRPr sz="1500" b="0">
                <a:solidFill>
                  <a:srgbClr val="17384C"/>
                </a:solidFill>
              </a:defRPr>
            </a:lvl2pPr>
            <a:lvl3pPr>
              <a:defRPr sz="1500" b="0">
                <a:solidFill>
                  <a:srgbClr val="17384C"/>
                </a:solidFill>
              </a:defRPr>
            </a:lvl3pPr>
            <a:lvl4pPr>
              <a:defRPr sz="1500" b="0">
                <a:solidFill>
                  <a:srgbClr val="17384C"/>
                </a:solidFill>
              </a:defRPr>
            </a:lvl4pPr>
            <a:lvl5pPr>
              <a:defRPr sz="1500" b="0">
                <a:solidFill>
                  <a:srgbClr val="17384C"/>
                </a:solidFill>
              </a:defRPr>
            </a:lvl5pPr>
            <a:lvl6pPr>
              <a:defRPr sz="1500" b="0">
                <a:solidFill>
                  <a:srgbClr val="17384C"/>
                </a:solidFill>
              </a:defRPr>
            </a:lvl6pPr>
            <a:lvl7pPr>
              <a:defRPr sz="1500" b="0">
                <a:solidFill>
                  <a:srgbClr val="17384C"/>
                </a:solidFill>
              </a:defRPr>
            </a:lvl7pPr>
            <a:lvl8pPr>
              <a:defRPr sz="1500" b="0">
                <a:solidFill>
                  <a:srgbClr val="17384C"/>
                </a:solidFill>
              </a:defRPr>
            </a:lvl8pPr>
            <a:lvl9pPr>
              <a:defRPr sz="1500" b="0">
                <a:solidFill>
                  <a:srgbClr val="17384C"/>
                </a:solidFill>
              </a:defRPr>
            </a:lvl9pPr>
          </a:lstStyle>
          <a:p xmlns:a="http://schemas.openxmlformats.org/drawingml/2006/main">
            <a:pPr>
              <a:defRPr sz="1500" b="0">
                <a:solidFill>
                  <a:srgbClr val="17384C"/>
                </a:solidFill>
              </a:defRPr>
            </a:pPr>
            <a:r>
              <a:rPr sz="1500" b="0">
                <a:solidFill>
                  <a:srgbClr val="17384C"/>
                </a:solidFill>
              </a:rPr>
              <a:t>Tabassi, E. (2023) Artificial Intelligence Risk Management Framework (AI RMF 1.0). NIST AI 100-1. Gaithersburg, MD: National Institute of Standards and Technology. https://doi.org/10.6028/NIST.AI.100-1.</a:t>
            </a:r>
          </a:p>
        </p:txBody>
      </p:sp>
    </p:spTree>
    <p:extLst>
      <p:ext uri="{BB962C8B-B14F-4D97-AF65-F5344CB8AC3E}">
        <p14:creationId xmlns:p14="http://schemas.microsoft.com/office/powerpoint/2010/main" val="8044232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DocSecurity>0</DocSecurity>
  <PresentationFormat>Converted Presentation</PresentationFormat>
  <Slides>0</Slides>
  <Notes>0</Notes>
  <HiddenSlides>0</HiddenSlides>
  <SharedDoc>false</SharedDoc>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2026-10-19T08:19:54Z</dcterms:created>
  <dcterms:modified xsi:type="dcterms:W3CDTF">2026-10-19T08:19:54Z</dcterms:modified>
</cp:coreProperties>
</file>